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28600"/>
            <a:ext cx="8686800" cy="410589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8625" y="744066"/>
            <a:ext cx="6268641" cy="4328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Uzum Tezkor: Food App Perception Gap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1434136"/>
            <a:ext cx="4071938" cy="35361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Low Non-RTE Share: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Users primarily use 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app for ready-to-eat food delivery.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1873476"/>
            <a:ext cx="4071938" cy="53042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Low Cross-Category Usage: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Minimal 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transition to supermarket, flowers, or 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pet shop.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2489625"/>
            <a:ext cx="4071938" cy="35361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Waiting Screen: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The 30-minute post-order </a:t>
            </a:r>
            <a:r>
              <a:rPr lang="en-US" sz="11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window is a major missed opportunity.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3438" y="1434136"/>
            <a:ext cx="4071938" cy="2600325"/>
          </a:xfrm>
          <a:prstGeom prst="rect">
            <a:avLst/>
          </a:prstGeom>
          <a:solidFill>
            <a:srgbClr val="FFFFFF"/>
          </a:solidFill>
          <a:ln w="9144">
            <a:solidFill>
              <a:srgbClr val="2A9D8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28625" y="1434136"/>
            <a:ext cx="1321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8625" y="1873476"/>
            <a:ext cx="1321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8625" y="2489625"/>
            <a:ext cx="1321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738" y="1548436"/>
            <a:ext cx="3821906" cy="2357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171450"/>
            <a:ext cx="8801100" cy="362204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2900" y="553473"/>
            <a:ext cx="6725841" cy="45574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Insight: Waiting Time is a Growth Opportunity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342900" y="1137810"/>
            <a:ext cx="8458200" cy="557213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137810"/>
            <a:ext cx="35719" cy="557213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1137810"/>
            <a:ext cx="8458200" cy="557213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"Post-checkout is not just engagement; it's a </a:t>
            </a:r>
            <a:r>
              <a:rPr lang="en-US" sz="1200" b="1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high-attention window</a:t>
            </a:r>
            <a:r>
              <a:rPr lang="en-US" sz="12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for </a:t>
            </a:r>
            <a:r>
              <a:rPr lang="en-US" sz="12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category discovery."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2900" y="1823610"/>
            <a:ext cx="8458200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 </a:t>
            </a:r>
            <a:r>
              <a:rPr lang="en-US" sz="10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Captive Audience:</a:t>
            </a: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100% of users stay in-app to track their order.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2900" y="2046852"/>
            <a:ext cx="8458200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 </a:t>
            </a:r>
            <a:r>
              <a:rPr lang="en-US" sz="10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Natural Discovery:</a:t>
            </a: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Introducing new categories during "idle" time is less intrusive.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2900" y="2270094"/>
            <a:ext cx="8458200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➢ </a:t>
            </a:r>
            <a:r>
              <a:rPr lang="en-US" sz="10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Attention Peak:</a:t>
            </a:r>
            <a:r>
              <a:rPr lang="en-US" sz="10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User focus is highest right after the transaction.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2963" y="2679074"/>
            <a:ext cx="542925" cy="5429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A9D8F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91" y="2763013"/>
            <a:ext cx="321469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050" y="3293436"/>
            <a:ext cx="142875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Order Placed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00050" y="3480960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Transaction complete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300538" y="2679074"/>
            <a:ext cx="542925" cy="542925"/>
          </a:xfrm>
          <a:prstGeom prst="ellipse">
            <a:avLst/>
          </a:prstGeom>
          <a:solidFill>
            <a:srgbClr val="FFF9F0"/>
          </a:solidFill>
          <a:ln w="18288">
            <a:solidFill>
              <a:srgbClr val="F4A261"/>
            </a:solidFill>
            <a:prstDash val="dash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2763013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7625" y="3293436"/>
            <a:ext cx="142875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Waiting Window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857625" y="3480960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20-40 mins of attention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7758113" y="2679074"/>
            <a:ext cx="542925" cy="5429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A9D8F"/>
            </a:solidFill>
            <a:prstDash val="dash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419" y="2748725"/>
            <a:ext cx="214313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279149"/>
            <a:ext cx="142875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Discovery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315200" y="3466672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Non-RTE activation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4616676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8625" y="658341"/>
            <a:ext cx="4454128" cy="4328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Solution: Play &amp; Discover AI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84142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619873"/>
            <a:ext cx="4493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Mini-Game Integration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1531" y="1977061"/>
            <a:ext cx="449341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 short, interactive experience embedded directly into the order tracking screen.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559276"/>
            <a:ext cx="200025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1525" y="2695008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Personalized Rewards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71525" y="3052195"/>
            <a:ext cx="45434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AI-driven incentives (promo codes/cashback) tailored to individual user profiles.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34411"/>
            <a:ext cx="200025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1525" y="3770142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Non-RTE Trigger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771525" y="4127329"/>
            <a:ext cx="45434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Strategic rewards designed specifically to drive first-time purchases in new categories.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6029325" y="1448423"/>
            <a:ext cx="2114550" cy="3114675"/>
          </a:xfrm>
          <a:prstGeom prst="rect">
            <a:avLst/>
          </a:prstGeom>
          <a:solidFill>
            <a:srgbClr val="FFFFFF"/>
          </a:solidFill>
          <a:ln w="54864">
            <a:solidFill>
              <a:srgbClr val="2B2D4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086475" y="1448423"/>
            <a:ext cx="2000250" cy="28575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0"/>
          <p:cNvSpPr/>
          <p:nvPr/>
        </p:nvSpPr>
        <p:spPr>
          <a:xfrm>
            <a:off x="6086475" y="1448423"/>
            <a:ext cx="200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Uzum Tezkor - Tracking</a:t>
            </a:r>
            <a:endParaRPr lang="en-US" sz="600" dirty="0"/>
          </a:p>
        </p:txBody>
      </p:sp>
      <p:sp>
        <p:nvSpPr>
          <p:cNvPr id="17" name="Text 11"/>
          <p:cNvSpPr/>
          <p:nvPr/>
        </p:nvSpPr>
        <p:spPr>
          <a:xfrm>
            <a:off x="6200775" y="1848473"/>
            <a:ext cx="17716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Your order is coming!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6200775" y="2061000"/>
            <a:ext cx="1771650" cy="753666"/>
          </a:xfrm>
          <a:prstGeom prst="rect">
            <a:avLst/>
          </a:prstGeom>
          <a:solidFill>
            <a:srgbClr val="F4F1EA"/>
          </a:solidFill>
          <a:ln w="18288">
            <a:solidFill>
              <a:srgbClr val="2A9D8F"/>
            </a:solidFill>
            <a:prstDash val="dash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725" y="2146725"/>
            <a:ext cx="285750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86500" y="2507484"/>
            <a:ext cx="1600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Play a quick game while you wait!</a:t>
            </a:r>
            <a:endParaRPr lang="en-US" sz="600" dirty="0"/>
          </a:p>
        </p:txBody>
      </p:sp>
      <p:sp>
        <p:nvSpPr>
          <p:cNvPr id="21" name="Shape 14"/>
          <p:cNvSpPr/>
          <p:nvPr/>
        </p:nvSpPr>
        <p:spPr>
          <a:xfrm rot="-120000">
            <a:off x="6475810" y="2957540"/>
            <a:ext cx="1221581" cy="1285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5"/>
          <p:cNvSpPr/>
          <p:nvPr/>
        </p:nvSpPr>
        <p:spPr>
          <a:xfrm rot="-120000">
            <a:off x="6404372" y="2886103"/>
            <a:ext cx="1364457" cy="27146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WIN $3 OFF FLOWERS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46577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8625" y="639198"/>
            <a:ext cx="5220295" cy="398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AI Works: The "Next Best Offer"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1609297"/>
            <a:ext cx="2314575" cy="1594842"/>
          </a:xfrm>
          <a:prstGeom prst="rect">
            <a:avLst/>
          </a:prstGeom>
          <a:solidFill>
            <a:srgbClr val="FFFFFF"/>
          </a:solidFill>
          <a:ln w="18288">
            <a:solidFill>
              <a:srgbClr val="2B2D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923622"/>
            <a:ext cx="2000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Inputs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4375" y="2246877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Order History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4375" y="2432614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App Behavior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" y="2618352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Time &amp; Location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4375" y="2804089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Weather Context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4375" y="2246877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4375" y="2432614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4375" y="2618352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14375" y="2804089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01795" y="2335281"/>
            <a:ext cx="1200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▶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414713" y="1623585"/>
            <a:ext cx="2286000" cy="1566267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4"/>
          <p:cNvSpPr/>
          <p:nvPr/>
        </p:nvSpPr>
        <p:spPr>
          <a:xfrm>
            <a:off x="3557588" y="1923622"/>
            <a:ext cx="2000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ML Scoring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57588" y="2246877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Category Affinity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57588" y="2432614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Promo Sensitivity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57588" y="2618352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Churn Risk Score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57588" y="2804089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Propensity Model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57588" y="2246877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557588" y="2432614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557588" y="2618352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557588" y="2804089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045008" y="2335281"/>
            <a:ext cx="1200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▶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257925" y="1609297"/>
            <a:ext cx="2314575" cy="1594842"/>
          </a:xfrm>
          <a:prstGeom prst="rect">
            <a:avLst/>
          </a:prstGeom>
          <a:solidFill>
            <a:srgbClr val="FFFFFF"/>
          </a:solidFill>
          <a:ln w="18288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29375" y="1909335"/>
            <a:ext cx="2000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Personalized Offer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29375" y="2232589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Optimal Category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29375" y="2418327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Dynamic Discount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429375" y="2604064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Custom Creative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429375" y="2789802"/>
            <a:ext cx="2000250" cy="1285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Push Timing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28625" y="3532752"/>
            <a:ext cx="8286750" cy="47148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"The engine doesn't just predict what you want; it predicts what will </a:t>
            </a:r>
            <a:r>
              <a:rPr lang="en-US" sz="1000" b="1" i="1" dirty="0">
                <a:solidFill>
                  <a:srgbClr val="2A9D8F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trigger your first cross-</a:t>
            </a:r>
            <a:r>
              <a:rPr lang="en-US" sz="1000" b="1" i="1" dirty="0">
                <a:solidFill>
                  <a:srgbClr val="2A9D8F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category purchase</a:t>
            </a:r>
            <a:r>
              <a:rPr lang="en-US" sz="1050" i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."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29375" y="2232589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29375" y="2418327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29375" y="2604064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429375" y="2789802"/>
            <a:ext cx="678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14313"/>
            <a:ext cx="8572500" cy="430053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500063"/>
            <a:ext cx="4730948" cy="4328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UX Flow: Order to Conversion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504457"/>
            <a:ext cx="1143000" cy="1327259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1661620"/>
            <a:ext cx="20002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2025951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 Order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2938" y="2297413"/>
            <a:ext cx="10001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User places a standard food order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 rot="60000">
            <a:off x="2021681" y="1561608"/>
            <a:ext cx="985838" cy="1072956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2434361" y="1661667"/>
            <a:ext cx="1714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 rot="60000">
            <a:off x="2014163" y="2025947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2. Tracking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 rot="60000">
            <a:off x="2008479" y="2297360"/>
            <a:ext cx="10001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Game invite on tracking screen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 rot="-60000">
            <a:off x="3400425" y="1568751"/>
            <a:ext cx="971550" cy="1212959"/>
          </a:xfrm>
          <a:prstGeom prst="rect">
            <a:avLst/>
          </a:prstGeom>
          <a:solidFill>
            <a:srgbClr val="FDFDFD"/>
          </a:solidFill>
          <a:ln w="18288">
            <a:solidFill>
              <a:srgbClr val="F4A26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60000">
            <a:off x="3737478" y="1661671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 rot="-60000">
            <a:off x="3386150" y="2025951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3. Game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 rot="-60000">
            <a:off x="3393057" y="2297353"/>
            <a:ext cx="10001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30-sec interactive experience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 rot="120000">
            <a:off x="4764881" y="1561608"/>
            <a:ext cx="985838" cy="1072956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5140182" y="1661811"/>
            <a:ext cx="257175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 rot="120000">
            <a:off x="4756990" y="2025938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4. Reward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 rot="120000">
            <a:off x="4745621" y="2297202"/>
            <a:ext cx="10001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Personalized Non-RTE promo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6057900" y="1504457"/>
            <a:ext cx="1143000" cy="1187258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66162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29338" y="2025951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5. Category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6129338" y="2297413"/>
            <a:ext cx="10001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User explores new category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 rot="-120000">
            <a:off x="7508081" y="1561608"/>
            <a:ext cx="985838" cy="1072956"/>
          </a:xfrm>
          <a:prstGeom prst="rect">
            <a:avLst/>
          </a:prstGeom>
          <a:solidFill>
            <a:srgbClr val="F4F9F8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20000">
            <a:off x="7875730" y="1661811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 rot="-120000">
            <a:off x="7501685" y="2025938"/>
            <a:ext cx="1000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6. Conversion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 rot="-120000">
            <a:off x="7513053" y="2297202"/>
            <a:ext cx="100012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First Non-RTE order placed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5756" y="546329"/>
            <a:ext cx="3157538" cy="39859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5756" y="923497"/>
            <a:ext cx="3157538" cy="21431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2"/>
          <p:cNvSpPr/>
          <p:nvPr/>
        </p:nvSpPr>
        <p:spPr>
          <a:xfrm>
            <a:off x="335756" y="546329"/>
            <a:ext cx="3157538" cy="398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 Reward Engine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35756" y="1209247"/>
            <a:ext cx="84724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Moving beyond generic promotions: Personalized incentives for every segment.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5756" y="1584294"/>
            <a:ext cx="4164806" cy="1498736"/>
          </a:xfrm>
          <a:prstGeom prst="rect">
            <a:avLst/>
          </a:prstGeom>
          <a:solidFill>
            <a:srgbClr val="FDFDFD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8631" y="1884331"/>
            <a:ext cx="3879056" cy="25181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First-Time Non-RTE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8631" y="2250449"/>
            <a:ext cx="38790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Users who only order food. Goal: Lower the trial barrier for new categories.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8631" y="2756204"/>
            <a:ext cx="1875234" cy="169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478631" y="2756204"/>
            <a:ext cx="1875234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High-Value Discount ($3+ Off)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643438" y="1584294"/>
            <a:ext cx="4164806" cy="1498736"/>
          </a:xfrm>
          <a:prstGeom prst="rect">
            <a:avLst/>
          </a:prstGeom>
          <a:solidFill>
            <a:srgbClr val="FDFDFD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86313" y="1884331"/>
            <a:ext cx="3879056" cy="25181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One-Time Explorer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86313" y="2250449"/>
            <a:ext cx="38790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Users who tried non-RTE once. Goal: Encourage repeat behavior and habit formation.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86313" y="2756204"/>
            <a:ext cx="1632347" cy="169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4786313" y="2756204"/>
            <a:ext cx="1632347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Cashback on Next 2 Orders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35756" y="3225905"/>
            <a:ext cx="4164806" cy="1498736"/>
          </a:xfrm>
          <a:prstGeom prst="rect">
            <a:avLst/>
          </a:prstGeom>
          <a:solidFill>
            <a:srgbClr val="FDFDFD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8631" y="3525943"/>
            <a:ext cx="3879056" cy="25181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Active Cross-Category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8631" y="3892060"/>
            <a:ext cx="38790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Loyal multi-category users. Goal: Increase LTV and reward loyalty.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8631" y="4397815"/>
            <a:ext cx="2057400" cy="169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/>
          <p:nvPr/>
        </p:nvSpPr>
        <p:spPr>
          <a:xfrm>
            <a:off x="478631" y="4397815"/>
            <a:ext cx="2057400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Exclusive Access / Free Delivery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43438" y="3225905"/>
            <a:ext cx="4164806" cy="1498736"/>
          </a:xfrm>
          <a:prstGeom prst="rect">
            <a:avLst/>
          </a:prstGeom>
          <a:solidFill>
            <a:srgbClr val="FDFDFD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6313" y="3511655"/>
            <a:ext cx="3879056" cy="25181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Churn-Risk User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86313" y="3877773"/>
            <a:ext cx="38790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Inactive users. Goal: Re-activation through high-relevance "We Miss You" offers.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786313" y="4383528"/>
            <a:ext cx="2057400" cy="169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3"/>
          <p:cNvSpPr/>
          <p:nvPr/>
        </p:nvSpPr>
        <p:spPr>
          <a:xfrm>
            <a:off x="4786313" y="4383528"/>
            <a:ext cx="2057400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Personalized Re-engagement Promo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335756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14325" y="658341"/>
            <a:ext cx="6127552" cy="4328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MVP Architecture: Realistic &amp; Scalable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 rot="-60000">
            <a:off x="407194" y="1426992"/>
            <a:ext cx="2486025" cy="619720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434557" y="1660829"/>
            <a:ext cx="123801" cy="1418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 rot="-60000">
            <a:off x="650099" y="1578577"/>
            <a:ext cx="2249101" cy="17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Ingestion Layer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 rot="-60000">
            <a:off x="652593" y="1798229"/>
            <a:ext cx="2248524" cy="23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Real-time events &amp; order history from Uzum Tezkor core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 rot="60000">
            <a:off x="3178969" y="1426992"/>
            <a:ext cx="2457450" cy="619720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0" name="Shape 6"/>
          <p:cNvSpPr/>
          <p:nvPr/>
        </p:nvSpPr>
        <p:spPr>
          <a:xfrm>
            <a:off x="3074599" y="1388554"/>
            <a:ext cx="2666190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7"/>
          <p:cNvSpPr/>
          <p:nvPr/>
        </p:nvSpPr>
        <p:spPr>
          <a:xfrm>
            <a:off x="5733645" y="1388554"/>
            <a:ext cx="7144" cy="69659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8"/>
          <p:cNvSpPr/>
          <p:nvPr/>
        </p:nvSpPr>
        <p:spPr>
          <a:xfrm>
            <a:off x="3074599" y="2078006"/>
            <a:ext cx="2666190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9"/>
          <p:cNvSpPr/>
          <p:nvPr/>
        </p:nvSpPr>
        <p:spPr>
          <a:xfrm>
            <a:off x="3074599" y="1388554"/>
            <a:ext cx="35719" cy="696595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3178662" y="1633587"/>
            <a:ext cx="141666" cy="1416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 rot="60000">
            <a:off x="3399428" y="1573616"/>
            <a:ext cx="2258508" cy="17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Store &amp; Profile Service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 rot="60000">
            <a:off x="3397511" y="1793268"/>
            <a:ext cx="2257931" cy="23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Pre-computed user attributes and category affinity scores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11959" y="2132593"/>
            <a:ext cx="2676495" cy="924805"/>
          </a:xfrm>
          <a:prstGeom prst="rect">
            <a:avLst/>
          </a:prstGeom>
          <a:solidFill>
            <a:srgbClr val="F4F9F8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5" y="2506955"/>
            <a:ext cx="143621" cy="1436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8238" y="2318776"/>
            <a:ext cx="2272734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ML Scoring Engine (Python/Scikit-learn)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30389" y="2729536"/>
            <a:ext cx="2272079" cy="269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Real-time "Next Best Offer" prediction during tracking window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070256" y="2134921"/>
            <a:ext cx="2674876" cy="905861"/>
          </a:xfrm>
          <a:prstGeom prst="rect">
            <a:avLst/>
          </a:prstGeom>
          <a:solidFill>
            <a:srgbClr val="FDFDFD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261" y="2497058"/>
            <a:ext cx="107654" cy="1432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29619" y="2417453"/>
            <a:ext cx="2228806" cy="19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Delivery &amp; CRM Layer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428622" y="2637122"/>
            <a:ext cx="2229037" cy="264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In-app game trigger and automated push reminders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 rot="120000">
            <a:off x="7208044" y="850108"/>
            <a:ext cx="1428750" cy="932452"/>
          </a:xfrm>
          <a:prstGeom prst="rect">
            <a:avLst/>
          </a:prstGeom>
          <a:solidFill>
            <a:srgbClr val="F4F1EA"/>
          </a:solidFill>
          <a:ln w="9144">
            <a:solidFill>
              <a:srgbClr val="2B2D42"/>
            </a:solidFill>
            <a:prstDash val="dash"/>
          </a:ln>
        </p:spPr>
      </p:sp>
      <p:sp>
        <p:nvSpPr>
          <p:cNvPr id="26" name="Text 19"/>
          <p:cNvSpPr/>
          <p:nvPr/>
        </p:nvSpPr>
        <p:spPr>
          <a:xfrm rot="120000">
            <a:off x="7223380" y="995105"/>
            <a:ext cx="142875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 rot="120000">
            <a:off x="7216649" y="1211086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 Python / FastAPI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 rot="120000">
            <a:off x="7211725" y="1352090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 Scikit-learn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 rot="120000">
            <a:off x="7206801" y="1493093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 Redis (Feature Store)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 rot="120000">
            <a:off x="7201877" y="1634096"/>
            <a:ext cx="14287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• Existing CRM API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214313"/>
            <a:ext cx="8715375" cy="46577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710636"/>
            <a:ext cx="5756077" cy="398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KPI &amp; A/B Testing: Success is Measured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0063" y="1566435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0063" y="1902191"/>
            <a:ext cx="3571875" cy="517922"/>
          </a:xfrm>
          <a:prstGeom prst="rect">
            <a:avLst/>
          </a:prstGeom>
          <a:solidFill>
            <a:srgbClr val="FDFDFD"/>
          </a:solidFill>
          <a:ln w="9144">
            <a:solidFill>
              <a:srgbClr val="4A4A4A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0063" y="1902191"/>
            <a:ext cx="3571875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North Star Metric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Non-RTE GMV Share of Total Revenue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0063" y="2548700"/>
            <a:ext cx="3571875" cy="517922"/>
          </a:xfrm>
          <a:prstGeom prst="rect">
            <a:avLst/>
          </a:prstGeom>
          <a:solidFill>
            <a:srgbClr val="FDFDFD"/>
          </a:solidFill>
          <a:ln w="9144">
            <a:solidFill>
              <a:srgbClr val="4A4A4A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00063" y="2548700"/>
            <a:ext cx="3571875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Primary KPI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First-time Non-RTE Conversion Rate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0063" y="3195210"/>
            <a:ext cx="3571875" cy="517922"/>
          </a:xfrm>
          <a:prstGeom prst="rect">
            <a:avLst/>
          </a:prstGeom>
          <a:solidFill>
            <a:srgbClr val="FDFDFD"/>
          </a:solidFill>
          <a:ln w="9144">
            <a:solidFill>
              <a:srgbClr val="4A4A4A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0063" y="3195210"/>
            <a:ext cx="3571875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Secondary KPIs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
</a:t>
            </a: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Redemption Rate, Retention Uplift, Repeat Rate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57688" y="1528707"/>
            <a:ext cx="42862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Experimental Design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57688" y="1814457"/>
            <a:ext cx="4286250" cy="1380530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7688" y="1814457"/>
            <a:ext cx="713315" cy="32325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2"/>
          <p:cNvSpPr/>
          <p:nvPr/>
        </p:nvSpPr>
        <p:spPr>
          <a:xfrm>
            <a:off x="4357688" y="1814457"/>
            <a:ext cx="71331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Group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71002" y="1814457"/>
            <a:ext cx="2188359" cy="32325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4"/>
          <p:cNvSpPr/>
          <p:nvPr/>
        </p:nvSpPr>
        <p:spPr>
          <a:xfrm>
            <a:off x="5071002" y="1814457"/>
            <a:ext cx="2188359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Strategy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259362" y="1814457"/>
            <a:ext cx="1384576" cy="32325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Text 16"/>
          <p:cNvSpPr/>
          <p:nvPr/>
        </p:nvSpPr>
        <p:spPr>
          <a:xfrm>
            <a:off x="7259362" y="1814457"/>
            <a:ext cx="1384576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57688" y="2137711"/>
            <a:ext cx="713315" cy="30360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Control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71002" y="2137711"/>
            <a:ext cx="2188359" cy="30360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 offer / Standard tracking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59362" y="2137711"/>
            <a:ext cx="1384576" cy="30360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Baseline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57688" y="2441321"/>
            <a:ext cx="4286250" cy="30718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Text 21"/>
          <p:cNvSpPr/>
          <p:nvPr/>
        </p:nvSpPr>
        <p:spPr>
          <a:xfrm>
            <a:off x="4357688" y="2441321"/>
            <a:ext cx="713315" cy="30718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Fixed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71002" y="2441321"/>
            <a:ext cx="2188359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Generic 10% discount for all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259362" y="2441321"/>
            <a:ext cx="1384576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+5% Conversion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357688" y="2748502"/>
            <a:ext cx="713315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AI Group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71002" y="2748502"/>
            <a:ext cx="2188359" cy="4357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Personalized "Next Best Offer"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59362" y="2748502"/>
            <a:ext cx="1384576" cy="4357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+15-20% Conversion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357688" y="3330718"/>
            <a:ext cx="42862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*Targeting 95% statistical significance within 14 days of pilot.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464343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14325" y="639198"/>
            <a:ext cx="4075509" cy="398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Roadmap &amp; Unit Economics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314325" y="1323547"/>
            <a:ext cx="2740326" cy="730448"/>
          </a:xfrm>
          <a:prstGeom prst="rect">
            <a:avLst/>
          </a:prstGeom>
          <a:solidFill>
            <a:srgbClr val="FDFDFD"/>
          </a:solidFill>
          <a:ln w="9144">
            <a:solidFill>
              <a:srgbClr val="2A9D8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421481" y="1237822"/>
            <a:ext cx="689372" cy="1696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4"/>
          <p:cNvSpPr/>
          <p:nvPr/>
        </p:nvSpPr>
        <p:spPr>
          <a:xfrm>
            <a:off x="421481" y="1237822"/>
            <a:ext cx="689372" cy="16966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Days 0-30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00050" y="1480710"/>
            <a:ext cx="25545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MVP Development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0050" y="1728955"/>
            <a:ext cx="25545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Integration with tracking screen and initial ML scoring setup.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94679" y="1323547"/>
            <a:ext cx="2740326" cy="730448"/>
          </a:xfrm>
          <a:prstGeom prst="rect">
            <a:avLst/>
          </a:prstGeom>
          <a:solidFill>
            <a:srgbClr val="FDFDFD"/>
          </a:solidFill>
          <a:ln w="9144">
            <a:solidFill>
              <a:srgbClr val="F4A261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308979" y="1237822"/>
            <a:ext cx="750094" cy="1696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3308979" y="1237822"/>
            <a:ext cx="750094" cy="16966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Days 30-60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87548" y="1480710"/>
            <a:ext cx="25545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 Pilot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87548" y="1728955"/>
            <a:ext cx="25545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A/B testing with 5% user base to refine reward sensitivity.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089321" y="1323547"/>
            <a:ext cx="2740326" cy="730448"/>
          </a:xfrm>
          <a:prstGeom prst="rect">
            <a:avLst/>
          </a:prstGeom>
          <a:solidFill>
            <a:srgbClr val="FDFDFD"/>
          </a:solidFill>
          <a:ln w="9144">
            <a:solidFill>
              <a:srgbClr val="2A9D8F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210765" y="1237822"/>
            <a:ext cx="750094" cy="1696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4"/>
          <p:cNvSpPr/>
          <p:nvPr/>
        </p:nvSpPr>
        <p:spPr>
          <a:xfrm>
            <a:off x="6210765" y="1237822"/>
            <a:ext cx="750094" cy="16966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Days 60-90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189334" y="1480710"/>
            <a:ext cx="25545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Full Scale-up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89334" y="1728955"/>
            <a:ext cx="255458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Rollout to 100% of users and expansion to all categories.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14325" y="2316305"/>
            <a:ext cx="41862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Economic Drivers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4325" y="2609199"/>
            <a:ext cx="4186238" cy="289322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Promo Waste Reduction:</a:t>
            </a: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Dynamic discounting saves ~15% in marketing spend.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14325" y="2984246"/>
            <a:ext cx="4186238" cy="289322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Incremental GMV:</a:t>
            </a: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Unlocking non-RTE spend from existing food users.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14325" y="3359293"/>
            <a:ext cx="4186238" cy="289322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Zero CAC:</a:t>
            </a:r>
            <a:r>
              <a:rPr lang="en-US" sz="9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 Growth powered by internal traffic, not external ads.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43438" y="2182583"/>
            <a:ext cx="4186238" cy="1757363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4325" y="2609199"/>
            <a:ext cx="107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➔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14325" y="2984246"/>
            <a:ext cx="107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➔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14325" y="3359293"/>
            <a:ext cx="107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➔</a:t>
            </a:r>
            <a:endParaRPr lang="en-US" sz="9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2268308"/>
            <a:ext cx="3993356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452913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6651" y="839530"/>
            <a:ext cx="2730698" cy="5086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Why This Wins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 rot="-60000">
            <a:off x="1357313" y="1776785"/>
            <a:ext cx="6429375" cy="1028700"/>
          </a:xfrm>
          <a:prstGeom prst="rect">
            <a:avLst/>
          </a:prstGeom>
          <a:solidFill>
            <a:srgbClr val="FDFDFD"/>
          </a:solidFill>
          <a:ln w="18288">
            <a:solidFill>
              <a:srgbClr val="2A9D8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 rot="-60000">
            <a:off x="1214437" y="1633910"/>
            <a:ext cx="6715125" cy="131445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"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didn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't j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ust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buil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 a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me.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 t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urn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 i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dle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wa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itin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 i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nto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Ze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ro-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 G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row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 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Eng</a:t>
            </a:r>
            <a:r>
              <a:rPr lang="en-US" sz="1900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ine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Uzu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 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Tezk</a:t>
            </a:r>
            <a:r>
              <a:rPr lang="en-US" sz="1900" dirty="0">
                <a:solidFill>
                  <a:srgbClr val="F4A26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or."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00125" y="3062660"/>
            <a:ext cx="3500438" cy="641152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90" y="3252862"/>
            <a:ext cx="214313" cy="214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5232" y="3141241"/>
            <a:ext cx="297389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Zero CAC Growth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455232" y="3368055"/>
            <a:ext cx="297389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Leveraging existing high-intent traffic instead of expensive ads.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43438" y="3062660"/>
            <a:ext cx="3500438" cy="641152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3245718"/>
            <a:ext cx="267891" cy="214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5641" y="3134097"/>
            <a:ext cx="294679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Personalized Activation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125641" y="3360911"/>
            <a:ext cx="29467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Every user gets a relevant reason to explore new categories.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1000125" y="3832399"/>
            <a:ext cx="3500438" cy="641152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128" y="4022601"/>
            <a:ext cx="214313" cy="2143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1882" y="3910980"/>
            <a:ext cx="294724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Scalable AI Layer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481882" y="4137794"/>
            <a:ext cx="29472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 system that learns and improves with every order placed.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43438" y="3832399"/>
            <a:ext cx="3500438" cy="641152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385" y="4015457"/>
            <a:ext cx="214313" cy="2143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13083" y="3903836"/>
            <a:ext cx="295935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Measurable Impact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113083" y="4130650"/>
            <a:ext cx="29593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Direct contribution to Uzum's strategic cross-category goals.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2026-04-25T10:58:31Z</dcterms:created>
  <dcterms:modified xsi:type="dcterms:W3CDTF">2026-04-25T10:58:31Z</dcterms:modified>
</cp:coreProperties>
</file>