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Uzum Tezkor hozirda asosan ovqat yetkazib berish ilovasi sifatida qabul qilinadi. Bu esa bizning non-RTE, ya'ni supermarket va boshqa xizmatlarimizning salohiyatini to'liq ochib bermayapti. Katta foydalanuvchilar bazasiga ega bo'lsak-da, ular turli kategoriyalar o'rtasida kam harakatlanishadi. Eng muhimi, buyurtmani kutish ekrani hozirda deyarli ishlatilmayapti, bu esa katta o'sish imkoniyatini boy berishimizga olib kelmoqda. Keyingi slaydda bu imkoniyatni qanday aniqlaganimizni ko'rib chiqamiz.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Foydalanuvchi buyurtma berganidan keyin kuryerni kutish vaqti shunchaki zerikish emas, balki biz uchun oltin imkoniyatdir. Aynan shu post-checkout vaqtida foydalanuvchining diqqati eng yuqori bo'ladi, chunki u buyurtma holatini kuzatish uchun ilova ichida qoladi. Bu vaqtda yangi kategoriyalarni taklif qilish eng tabiiy va samarali usul bo'lib, bizga o'sish uchun noyob sharoit yaratadi. Endi bu imkoniyatni qanday qilib amaliy yechimga aylantirganimizni ko'rib chiqamiz.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Bizning yechimimiz — bu Play &amp; Discover AI, kutish vaqtini interaktiv o'sish mexanizmiga aylantiradi. Bu mini-o'yin orqali foydalanuvchini jalb qilamiz, unga shaxsiylashtirilgan mukofotlar beramiz. AI tomonidan tanlangan bu chegirmalar aynan foydalanuvchining ehtiyojlariga mos keladi. Maqsadimiz — foydalanuvchini supermarket, gullar yoki pet shop kabi yangi non-RTE kategoriyalariga yo'naltirishdir. Keyingi slaydda bu AI qanday ishlashini batafsil tushuntiraman.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Bizning AI modelimiz har bir foydalanuvchi uchun "Next Best Offer"ni aniqlaydi. U foydalanuvchining buyurtmalar tarixi, kategoriya moyilligi va promo-kodlarga sezgirligini tahlil qiladi. Shuningdek, mijozi ketib qolish xavfini ham aniqlaydi. Bu ma'lumotlar asosida AI har bir foydalanuvchiga eng mos keladigan shaxsiylashtirilgan promo-kodni taklif qiladi. Misol uchun, agar foydalanuvchi tez-tez fast-food buyurtma qilsa, biz unga supermarketdan ichimliklar uchun taklif beramiz. Endi bu jarayon foydalanuvchi uchun qanday ko'rinishini ko'rib chiqamiz.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Foydalanuvchi yo'li juda sodda va intuitiv. Avvaliga foydalanuvchi ovqatga buyurtma beradi va keyin kutish ekranida buyurtmasini kuzatadi. Aynan shu yerda bizning interaktiv mini-o'yinimiz paydo bo'ladi. O'yinni yakunlagach, foydalanuvchi shaxsiylashtirilgan bonusga ega bo'ladi va bu bonusni darhol yangi kategoriyadan buyurtma berish uchun ishlatishi mumkin. Bu jarayon foydalanuvchi uchun majburiy emas, balki qiziqarli va foydali tajriba yaratadi. Keyingi slaydda mukofot tizimimiz qanday ishlashini ko'rib chiqamiz.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 esa, promo-budjetni qanday qilib eng samarali ishlatishimiz haqida gaplashamiz. Biz hamma foydalanuvchiga bir xil chegirma bermaymiz, chunki bu samarasiz. Bizning Smart Reward Engine har bir foydalanuvchi segmentiga moslashtirilgan takliflar yaratadi. Yangi foydalanuvchilarga katta chegirma berib, ularni non-RTE kategoriyasiga jalb qilamiz. Ketish xavfi bor foydalanuvchilarni esa maxsus takliflar bilan qaytaramiz. Bu yondashuv promo xarajatlarini optimallashtirib, har bir sarflangan so'mdan maksimal foyda olishimizni ta'minlaydi. Keyingi slaydda ushbu tizimning texnik arxitekturasi haqida gaplashamiz.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yerda bizning MVP arxitekturamizni ko'rib turibsiz. Biz noldan murakkab tizim qurmaymiz, balki Uzumning mavjud Big Data infratuzilmasidan maksimal darajada foydalanamiz. Event tracking va buyurtmalar bazasi bizga foydalanuvchi xatti-harakatlari haqida to'liq ma'lumot beradi. ML skoring va real-vaqtda tavsiyalar esa har bir foydalanuvchi uchun eng mos taklifni aniqlaydi. Bu yondashuv bizga tezda MVPni ishga tushirish va natijalarni real vaqtda kuzatish imkonini beradi. Lekin, bu natijalarni qanday o'lchaymiz? Keyingi slaydda shu haqida.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Muvaffaqiyatni taxmin qilish emas, balki o'lchash kerak. Bizning asosiy maqsadimiz — non-RTE GMV ulushini oshirish. Buni o'lchash uchun birinchi non-RTE konversiya darajasini asosiy KPI sifatida belgiladik. Har bir qadamni A/B testlar orqali tekshiramiz. Nazorat guruhi bilan solishtirib, o'yin va AI tavsiyalarining real ta'sirini aniqlaymiz. Bu bizga faqatgina o'yin yaratish emas, balki biznes ko'rsatkichlarini real o'stirishga yordam beradi. Endi esa, bu loyihaning iqtisodiy samaradorligi va amalga oshirish rejasiga o'tamiz.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Bizning rejamiz aniq va iqtisodiy jihatdan asoslangan. Birinchi 30 kunda MVPni tayyorlaymiz, bu bizga minimal resurslar bilan maksimal qiymat yaratish imkonini beradi. Keyingi 30 kunda kichik guruhda pilot test o'tkazamiz va AI modelini o'qitamiz. So'nggi 30 kunda esa tizimni to'liq masshtablaymiz. Bu yechim promo xarajatlarini optimallashtirib, qo'shimcha GMV yaratadi. Eng muhimi, biz yangi mijozlarni jalb qilish xarajatlarisiz o'sishga erishamiz. Xo'sh, nega aynan bizning yechimimiz g'olib bo'ladi? Yakuniy slaydda shu haqida.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 shunchaki o'yin yaratmadik. Biz Uzum Tezkor foydalanuvchilarining kutish vaqtini kuchli Growth Engine'ga aylantirdik. Bu yechim CACsiz o'sishni ta'minlaydi, chunki biz mavjud foydalanuvchi bazasidan foydalanamiz. Har bir foydalanuvchi uchun shaxsiylashtirilgan takliflar orqali ularni yangi kategoriyalarga jalb qilamiz. Eng muhimi, bu masshtablanuvchi AI qatlami bo'lib, Uzum ekotizimining boshqa yo'nalishlariga ham osongina moslashtirilishi mumkin. Har bir harakatimiz o'lchanadigan natijaga ega, bu esa biznes uchun real qiymat yaratadi. Play &amp; Discover AI — bu Uzum Tezkor uchun shunchaki funksiya emas, balki ekotizim ichida foydalanuvchilarni ushlab qolish va yangi daromad manbalarini ochish kalitidir.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72075"/>
          </a:xfrm>
          <a:prstGeom prst="rect">
            <a:avLst/>
          </a:prstGeom>
        </p:spPr>
      </p:pic>
      <p:sp>
        <p:nvSpPr>
          <p:cNvPr id="4" name="Text 0"/>
          <p:cNvSpPr/>
          <p:nvPr/>
        </p:nvSpPr>
        <p:spPr>
          <a:xfrm>
            <a:off x="8418909" y="142875"/>
            <a:ext cx="725091" cy="126802"/>
          </a:xfrm>
          <a:prstGeom prst="rect">
            <a:avLst/>
          </a:prstGeom>
          <a:noFill/>
          <a:ln/>
        </p:spPr>
        <p:txBody>
          <a:bodyPr wrap="none" lIns="0" tIns="0" rIns="0" bIns="0" rtlCol="0" anchor="t">
            <a:spAutoFit/>
          </a:bodyPr>
          <a:lstStyle/>
          <a:p>
            <a:pPr algn="l" indent="0" marL="0">
              <a:buNone/>
            </a:pPr>
            <a:r>
              <a:rPr lang="en-US" sz="750" dirty="0">
                <a:solidFill>
                  <a:srgbClr val="9370DB"/>
                </a:solidFill>
                <a:latin typeface="Space Grotesk Medium" pitchFamily="34" charset="0"/>
                <a:ea typeface="Space Grotesk Medium" pitchFamily="34" charset="-122"/>
                <a:cs typeface="Space Grotesk Medium" pitchFamily="34" charset="-120"/>
              </a:rPr>
              <a:t>VER: 1.0.0_MVP</a:t>
            </a:r>
            <a:endParaRPr lang="en-US" sz="750" dirty="0"/>
          </a:p>
        </p:txBody>
      </p:sp>
      <p:sp>
        <p:nvSpPr>
          <p:cNvPr id="5" name="Shape 1"/>
          <p:cNvSpPr/>
          <p:nvPr/>
        </p:nvSpPr>
        <p:spPr>
          <a:xfrm>
            <a:off x="1228725" y="1313976"/>
            <a:ext cx="6829425" cy="2658396"/>
          </a:xfrm>
          <a:prstGeom prst="rect">
            <a:avLst/>
          </a:prstGeom>
          <a:solidFill>
            <a:srgbClr val="000000">
              <a:alpha val="0"/>
            </a:srgbClr>
          </a:solidFill>
          <a:ln w="9144">
            <a:solidFill>
              <a:srgbClr val="9370DB"/>
            </a:solidFill>
            <a:prstDash val="dash"/>
          </a:ln>
        </p:spPr>
      </p:sp>
      <p:sp>
        <p:nvSpPr>
          <p:cNvPr id="6" name="Text 2"/>
          <p:cNvSpPr/>
          <p:nvPr/>
        </p:nvSpPr>
        <p:spPr>
          <a:xfrm>
            <a:off x="1664494" y="2056061"/>
            <a:ext cx="5957888" cy="584002"/>
          </a:xfrm>
          <a:prstGeom prst="rect">
            <a:avLst/>
          </a:prstGeom>
          <a:noFill/>
          <a:ln/>
        </p:spPr>
        <p:txBody>
          <a:bodyPr wrap="square" lIns="0" tIns="0" rIns="0" bIns="0" rtlCol="0" anchor="t">
            <a:spAutoFit/>
          </a:bodyPr>
          <a:lstStyle/>
          <a:p>
            <a:pPr algn="ctr" indent="0" marL="0">
              <a:buNone/>
            </a:pPr>
            <a:r>
              <a:rPr lang="en-US" sz="3300" b="1" dirty="0">
                <a:solidFill>
                  <a:srgbClr val="4B0082"/>
                </a:solidFill>
                <a:latin typeface="Space Grotesk Medium" pitchFamily="34" charset="0"/>
                <a:ea typeface="Space Grotesk Medium" pitchFamily="34" charset="-122"/>
                <a:cs typeface="Space Grotesk Medium" pitchFamily="34" charset="-120"/>
              </a:rPr>
              <a:t>PLAY &amp; DISCOVER AI</a:t>
            </a:r>
            <a:endParaRPr lang="en-US" sz="3300" dirty="0"/>
          </a:p>
        </p:txBody>
      </p:sp>
      <p:sp>
        <p:nvSpPr>
          <p:cNvPr id="7" name="Text 3"/>
          <p:cNvSpPr/>
          <p:nvPr/>
        </p:nvSpPr>
        <p:spPr>
          <a:xfrm>
            <a:off x="1664494" y="2711500"/>
            <a:ext cx="5957888" cy="276820"/>
          </a:xfrm>
          <a:prstGeom prst="rect">
            <a:avLst/>
          </a:prstGeom>
          <a:noFill/>
          <a:ln/>
        </p:spPr>
        <p:txBody>
          <a:bodyPr wrap="square" lIns="0" tIns="0" rIns="0" bIns="0" rtlCol="0" anchor="t">
            <a:spAutoFit/>
          </a:bodyPr>
          <a:lstStyle/>
          <a:p>
            <a:pPr algn="ctr" indent="0" marL="0">
              <a:buNone/>
            </a:pPr>
            <a:r>
              <a:rPr lang="en-US" sz="1700" dirty="0">
                <a:solidFill>
                  <a:srgbClr val="9370DB"/>
                </a:solidFill>
                <a:latin typeface="Inter" pitchFamily="34" charset="0"/>
                <a:ea typeface="Inter" pitchFamily="34" charset="-122"/>
                <a:cs typeface="Inter" pitchFamily="34" charset="-120"/>
              </a:rPr>
              <a:t>Uzum Tezkor Growth Engine</a:t>
            </a:r>
            <a:endParaRPr lang="en-US" sz="1700" dirty="0"/>
          </a:p>
        </p:txBody>
      </p:sp>
      <p:sp>
        <p:nvSpPr>
          <p:cNvPr id="8" name="Shape 4"/>
          <p:cNvSpPr/>
          <p:nvPr/>
        </p:nvSpPr>
        <p:spPr>
          <a:xfrm>
            <a:off x="1664494" y="3059757"/>
            <a:ext cx="5957888" cy="762595"/>
          </a:xfrm>
          <a:prstGeom prst="rect">
            <a:avLst/>
          </a:prstGeom>
          <a:solidFill>
            <a:srgbClr val="E6E6FA"/>
          </a:solidFill>
          <a:ln w="9144">
            <a:solidFill>
              <a:srgbClr val="4B0082"/>
            </a:solidFill>
            <a:prstDash val="solid"/>
          </a:ln>
        </p:spPr>
      </p:sp>
      <p:sp>
        <p:nvSpPr>
          <p:cNvPr id="9" name="Text 5"/>
          <p:cNvSpPr/>
          <p:nvPr/>
        </p:nvSpPr>
        <p:spPr>
          <a:xfrm>
            <a:off x="1664494" y="3059757"/>
            <a:ext cx="5957888" cy="762595"/>
          </a:xfrm>
          <a:prstGeom prst="rect">
            <a:avLst/>
          </a:prstGeom>
          <a:noFill/>
          <a:ln/>
        </p:spPr>
        <p:txBody>
          <a:bodyPr wrap="square" lIns="136017" tIns="136017" rIns="136017" bIns="136017" rtlCol="0" anchor="t">
            <a:spAutoFit/>
          </a:bodyPr>
          <a:lstStyle/>
          <a:p>
            <a:pPr algn="l" indent="0" marL="0">
              <a:buNone/>
            </a:pPr>
            <a:r>
              <a:rPr lang="en-US" sz="1000" b="1" dirty="0">
                <a:solidFill>
                  <a:srgbClr val="333333"/>
                </a:solidFill>
                <a:latin typeface="Inter" pitchFamily="34" charset="0"/>
                <a:ea typeface="Inter" pitchFamily="34" charset="-122"/>
                <a:cs typeface="Inter" pitchFamily="34" charset="-120"/>
              </a:rPr>
              <a:t>Muammo:</a:t>
            </a:r>
            <a:r>
              <a:rPr lang="en-US" sz="1050" dirty="0">
                <a:solidFill>
                  <a:srgbClr val="333333"/>
                </a:solidFill>
                <a:latin typeface="Inter" pitchFamily="34" charset="0"/>
                <a:ea typeface="Inter" pitchFamily="34" charset="-122"/>
                <a:cs typeface="Inter" pitchFamily="34" charset="-120"/>
              </a:rPr>
              <a:t> Uzum Tezkor foydalanuvchisi ilovani asosan ovqat buyurtma qilish uchun </a:t>
            </a:r>
            <a:r>
              <a:rPr lang="en-US" sz="1050" dirty="0">
                <a:solidFill>
                  <a:srgbClr val="333333"/>
                </a:solidFill>
                <a:latin typeface="Inter" pitchFamily="34" charset="0"/>
                <a:ea typeface="Inter" pitchFamily="34" charset="-122"/>
                <a:cs typeface="Inter" pitchFamily="34" charset="-120"/>
              </a:rPr>
              <a:t>ishlatadi. Non-RTE (supermarket, gullar) ulushi past va kutish ekrani o'sish nuqtasi </a:t>
            </a:r>
            <a:r>
              <a:rPr lang="en-US" sz="1050" dirty="0">
                <a:solidFill>
                  <a:srgbClr val="333333"/>
                </a:solidFill>
                <a:latin typeface="Inter" pitchFamily="34" charset="0"/>
                <a:ea typeface="Inter" pitchFamily="34" charset="-122"/>
                <a:cs typeface="Inter" pitchFamily="34" charset="-120"/>
              </a:rPr>
              <a:t>sifatida ishlatilmayapti.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285750"/>
            <a:ext cx="8286750"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Insight: Kutish vaqti — o'sish imkoniyati</a:t>
            </a:r>
            <a:endParaRPr lang="en-US" sz="2450" dirty="0"/>
          </a:p>
        </p:txBody>
      </p:sp>
      <p:sp>
        <p:nvSpPr>
          <p:cNvPr id="5" name="Text 1"/>
          <p:cNvSpPr/>
          <p:nvPr/>
        </p:nvSpPr>
        <p:spPr>
          <a:xfrm>
            <a:off x="600075" y="1059061"/>
            <a:ext cx="3829050"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Yuqori diqqat lahzasi</a:t>
            </a:r>
            <a:endParaRPr lang="en-US" sz="1250" dirty="0"/>
          </a:p>
        </p:txBody>
      </p:sp>
      <p:sp>
        <p:nvSpPr>
          <p:cNvPr id="6" name="Text 2"/>
          <p:cNvSpPr/>
          <p:nvPr/>
        </p:nvSpPr>
        <p:spPr>
          <a:xfrm>
            <a:off x="600075" y="1334095"/>
            <a:ext cx="3829050"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Post-checkout vaqti — foydalanuvchi buyurtma holatini kuzatish uchun ilovada eng ko'p vaqt o'tkazadigan davr.</a:t>
            </a:r>
            <a:endParaRPr lang="en-US" sz="950" dirty="0"/>
          </a:p>
        </p:txBody>
      </p:sp>
      <p:sp>
        <p:nvSpPr>
          <p:cNvPr id="7" name="Text 3"/>
          <p:cNvSpPr/>
          <p:nvPr/>
        </p:nvSpPr>
        <p:spPr>
          <a:xfrm>
            <a:off x="600075" y="1794142"/>
            <a:ext cx="3829050"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Tabiiy integratsiya</a:t>
            </a:r>
            <a:endParaRPr lang="en-US" sz="1250" dirty="0"/>
          </a:p>
        </p:txBody>
      </p:sp>
      <p:sp>
        <p:nvSpPr>
          <p:cNvPr id="8" name="Text 4"/>
          <p:cNvSpPr/>
          <p:nvPr/>
        </p:nvSpPr>
        <p:spPr>
          <a:xfrm>
            <a:off x="600075" y="2069176"/>
            <a:ext cx="3829050"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Foydalanuvchi ilova ichida qoladi, bu esa yangi kategoriyalarni taklif qilish uchun qulay vaqt.</a:t>
            </a:r>
            <a:endParaRPr lang="en-US" sz="950" dirty="0"/>
          </a:p>
        </p:txBody>
      </p:sp>
      <p:sp>
        <p:nvSpPr>
          <p:cNvPr id="9" name="Text 5"/>
          <p:cNvSpPr/>
          <p:nvPr/>
        </p:nvSpPr>
        <p:spPr>
          <a:xfrm>
            <a:off x="600075" y="2529222"/>
            <a:ext cx="3829050"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Engagement vs Growth</a:t>
            </a:r>
            <a:endParaRPr lang="en-US" sz="1250" dirty="0"/>
          </a:p>
        </p:txBody>
      </p:sp>
      <p:sp>
        <p:nvSpPr>
          <p:cNvPr id="10" name="Text 6"/>
          <p:cNvSpPr/>
          <p:nvPr/>
        </p:nvSpPr>
        <p:spPr>
          <a:xfrm>
            <a:off x="600075" y="2804257"/>
            <a:ext cx="3829050"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Kutish vaqtini zerikishdan real biznes o'sishiga aylantirish imkoniyati.</a:t>
            </a:r>
            <a:endParaRPr lang="en-US" sz="950" dirty="0"/>
          </a:p>
        </p:txBody>
      </p:sp>
      <p:sp>
        <p:nvSpPr>
          <p:cNvPr id="11" name="Shape 7"/>
          <p:cNvSpPr/>
          <p:nvPr/>
        </p:nvSpPr>
        <p:spPr>
          <a:xfrm>
            <a:off x="4714875" y="1059061"/>
            <a:ext cx="4000500" cy="2300288"/>
          </a:xfrm>
          <a:prstGeom prst="rect">
            <a:avLst/>
          </a:prstGeom>
          <a:solidFill>
            <a:srgbClr val="E6E6FA"/>
          </a:solidFill>
          <a:ln w="9144">
            <a:solidFill>
              <a:srgbClr val="9370DB"/>
            </a:solidFill>
            <a:prstDash val="dash"/>
          </a:ln>
        </p:spPr>
      </p:sp>
      <p:pic>
        <p:nvPicPr>
          <p:cNvPr id="12" name="Image 1" descr="preencoded.png">    </p:cNvPr>
          <p:cNvPicPr>
            <a:picLocks noChangeAspect="1"/>
          </p:cNvPicPr>
          <p:nvPr/>
        </p:nvPicPr>
        <p:blipFill>
          <a:blip r:embed="rId2"/>
          <a:stretch>
            <a:fillRect/>
          </a:stretch>
        </p:blipFill>
        <p:spPr>
          <a:xfrm>
            <a:off x="4929188" y="1245691"/>
            <a:ext cx="3571875" cy="1714500"/>
          </a:xfrm>
          <a:prstGeom prst="rect">
            <a:avLst/>
          </a:prstGeom>
        </p:spPr>
      </p:pic>
      <p:sp>
        <p:nvSpPr>
          <p:cNvPr id="13" name="Text 8"/>
          <p:cNvSpPr/>
          <p:nvPr/>
        </p:nvSpPr>
        <p:spPr>
          <a:xfrm>
            <a:off x="5583734" y="3031629"/>
            <a:ext cx="2262783" cy="126802"/>
          </a:xfrm>
          <a:prstGeom prst="rect">
            <a:avLst/>
          </a:prstGeom>
          <a:noFill/>
          <a:ln/>
        </p:spPr>
        <p:txBody>
          <a:bodyPr wrap="square" lIns="0" tIns="0" rIns="0" bIns="0" rtlCol="0" anchor="t">
            <a:spAutoFit/>
          </a:bodyPr>
          <a:lstStyle/>
          <a:p>
            <a:pPr algn="l" indent="0" marL="0">
              <a:buNone/>
            </a:pPr>
            <a:r>
              <a:rPr lang="en-US" sz="750" dirty="0">
                <a:solidFill>
                  <a:srgbClr val="4B0082"/>
                </a:solidFill>
                <a:latin typeface="Space Grotesk Medium" pitchFamily="34" charset="0"/>
                <a:ea typeface="Space Grotesk Medium" pitchFamily="34" charset="-122"/>
                <a:cs typeface="Space Grotesk Medium" pitchFamily="34" charset="-120"/>
              </a:rPr>
              <a:t>Foydalanuvchi diqqat darajasi (Attention Level)</a:t>
            </a:r>
            <a:endParaRPr lang="en-US" sz="750" dirty="0"/>
          </a:p>
        </p:txBody>
      </p:sp>
      <p:sp>
        <p:nvSpPr>
          <p:cNvPr id="14" name="Text 9"/>
          <p:cNvSpPr/>
          <p:nvPr/>
        </p:nvSpPr>
        <p:spPr>
          <a:xfrm>
            <a:off x="7477720" y="3487936"/>
            <a:ext cx="1237655" cy="108942"/>
          </a:xfrm>
          <a:prstGeom prst="rect">
            <a:avLst/>
          </a:prstGeom>
          <a:noFill/>
          <a:ln/>
        </p:spPr>
        <p:txBody>
          <a:bodyPr wrap="non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SLIDE_02 // INSIGHT_ANALYSIS</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292894"/>
            <a:ext cx="8272463"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Yechim: Play &amp; Discover AI</a:t>
            </a:r>
            <a:endParaRPr lang="en-US" sz="2450" dirty="0"/>
          </a:p>
        </p:txBody>
      </p:sp>
      <p:sp>
        <p:nvSpPr>
          <p:cNvPr id="5" name="Shape 1"/>
          <p:cNvSpPr/>
          <p:nvPr/>
        </p:nvSpPr>
        <p:spPr>
          <a:xfrm>
            <a:off x="435769" y="1094780"/>
            <a:ext cx="2614613" cy="2728913"/>
          </a:xfrm>
          <a:prstGeom prst="rect">
            <a:avLst/>
          </a:prstGeom>
          <a:solidFill>
            <a:srgbClr val="E6E6FA"/>
          </a:solidFill>
          <a:ln w="9144">
            <a:solidFill>
              <a:srgbClr val="9370DB"/>
            </a:solidFill>
            <a:prstDash val="dash"/>
          </a:ln>
        </p:spPr>
      </p:sp>
      <p:pic>
        <p:nvPicPr>
          <p:cNvPr id="6" name="Image 1" descr="preencoded.png">    </p:cNvPr>
          <p:cNvPicPr>
            <a:picLocks noChangeAspect="1"/>
          </p:cNvPicPr>
          <p:nvPr/>
        </p:nvPicPr>
        <p:blipFill>
          <a:blip r:embed="rId2"/>
          <a:stretch>
            <a:fillRect/>
          </a:stretch>
        </p:blipFill>
        <p:spPr>
          <a:xfrm>
            <a:off x="1600200" y="1423392"/>
            <a:ext cx="285750" cy="228600"/>
          </a:xfrm>
          <a:prstGeom prst="rect">
            <a:avLst/>
          </a:prstGeom>
        </p:spPr>
      </p:pic>
      <p:sp>
        <p:nvSpPr>
          <p:cNvPr id="7" name="Text 2"/>
          <p:cNvSpPr/>
          <p:nvPr/>
        </p:nvSpPr>
        <p:spPr>
          <a:xfrm>
            <a:off x="578644" y="1923455"/>
            <a:ext cx="2328863" cy="217884"/>
          </a:xfrm>
          <a:prstGeom prst="rect">
            <a:avLst/>
          </a:prstGeom>
          <a:noFill/>
          <a:ln/>
        </p:spPr>
        <p:txBody>
          <a:bodyPr wrap="square" lIns="0" tIns="0" rIns="0" bIns="0" rtlCol="0" anchor="t">
            <a:spAutoFit/>
          </a:bodyPr>
          <a:lstStyle/>
          <a:p>
            <a:pPr algn="ctr"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MINI-O'YIN</a:t>
            </a:r>
            <a:endParaRPr lang="en-US" sz="1250" dirty="0"/>
          </a:p>
        </p:txBody>
      </p:sp>
      <p:sp>
        <p:nvSpPr>
          <p:cNvPr id="8" name="Text 3"/>
          <p:cNvSpPr/>
          <p:nvPr/>
        </p:nvSpPr>
        <p:spPr>
          <a:xfrm>
            <a:off x="578644" y="2227064"/>
            <a:ext cx="2328863" cy="385763"/>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333333"/>
                </a:solidFill>
                <a:latin typeface="Inter" pitchFamily="34" charset="0"/>
                <a:ea typeface="Inter" pitchFamily="34" charset="-122"/>
                <a:cs typeface="Inter" pitchFamily="34" charset="-120"/>
              </a:rPr>
              <a:t>Kutish vaqtida foydalanuvchini jalb qiluvchi interaktiv va qiziqarli element.</a:t>
            </a:r>
            <a:endParaRPr lang="en-US" sz="950" dirty="0"/>
          </a:p>
        </p:txBody>
      </p:sp>
      <p:sp>
        <p:nvSpPr>
          <p:cNvPr id="9" name="Shape 4"/>
          <p:cNvSpPr/>
          <p:nvPr/>
        </p:nvSpPr>
        <p:spPr>
          <a:xfrm>
            <a:off x="3264694" y="1094780"/>
            <a:ext cx="2614613" cy="2728913"/>
          </a:xfrm>
          <a:prstGeom prst="rect">
            <a:avLst/>
          </a:prstGeom>
          <a:solidFill>
            <a:srgbClr val="E6E6FA"/>
          </a:solidFill>
          <a:ln w="9144">
            <a:solidFill>
              <a:srgbClr val="9370DB"/>
            </a:solidFill>
            <a:prstDash val="dash"/>
          </a:ln>
        </p:spPr>
      </p:sp>
      <p:pic>
        <p:nvPicPr>
          <p:cNvPr id="10" name="Image 2" descr="preencoded.png">    </p:cNvPr>
          <p:cNvPicPr>
            <a:picLocks noChangeAspect="1"/>
          </p:cNvPicPr>
          <p:nvPr/>
        </p:nvPicPr>
        <p:blipFill>
          <a:blip r:embed="rId3"/>
          <a:stretch>
            <a:fillRect/>
          </a:stretch>
        </p:blipFill>
        <p:spPr>
          <a:xfrm>
            <a:off x="4457700" y="1423392"/>
            <a:ext cx="228600" cy="228600"/>
          </a:xfrm>
          <a:prstGeom prst="rect">
            <a:avLst/>
          </a:prstGeom>
        </p:spPr>
      </p:pic>
      <p:sp>
        <p:nvSpPr>
          <p:cNvPr id="11" name="Text 5"/>
          <p:cNvSpPr/>
          <p:nvPr/>
        </p:nvSpPr>
        <p:spPr>
          <a:xfrm>
            <a:off x="3407569" y="1923455"/>
            <a:ext cx="2328863" cy="435769"/>
          </a:xfrm>
          <a:prstGeom prst="rect">
            <a:avLst/>
          </a:prstGeom>
          <a:noFill/>
          <a:ln/>
        </p:spPr>
        <p:txBody>
          <a:bodyPr wrap="square" lIns="0" tIns="0" rIns="0" bIns="0" rtlCol="0" anchor="t">
            <a:spAutoFit/>
          </a:bodyPr>
          <a:lstStyle/>
          <a:p>
            <a:pPr algn="ctr"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SHAXSIYLASHTIRILGAN MUKOFOT</a:t>
            </a:r>
            <a:endParaRPr lang="en-US" sz="1250" dirty="0"/>
          </a:p>
        </p:txBody>
      </p:sp>
      <p:sp>
        <p:nvSpPr>
          <p:cNvPr id="12" name="Text 6"/>
          <p:cNvSpPr/>
          <p:nvPr/>
        </p:nvSpPr>
        <p:spPr>
          <a:xfrm>
            <a:off x="3407569" y="2444948"/>
            <a:ext cx="2328863" cy="578644"/>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333333"/>
                </a:solidFill>
                <a:latin typeface="Inter" pitchFamily="34" charset="0"/>
                <a:ea typeface="Inter" pitchFamily="34" charset="-122"/>
                <a:cs typeface="Inter" pitchFamily="34" charset="-120"/>
              </a:rPr>
              <a:t>AI tomonidan tanlangan, aynan foydalanuvchi ehtiyojiga mos maxsus chegirmalar.</a:t>
            </a:r>
            <a:endParaRPr lang="en-US" sz="950" dirty="0"/>
          </a:p>
        </p:txBody>
      </p:sp>
      <p:sp>
        <p:nvSpPr>
          <p:cNvPr id="13" name="Shape 7"/>
          <p:cNvSpPr/>
          <p:nvPr/>
        </p:nvSpPr>
        <p:spPr>
          <a:xfrm>
            <a:off x="6093619" y="1094780"/>
            <a:ext cx="2614613" cy="2728913"/>
          </a:xfrm>
          <a:prstGeom prst="rect">
            <a:avLst/>
          </a:prstGeom>
          <a:solidFill>
            <a:srgbClr val="E6E6FA"/>
          </a:solidFill>
          <a:ln w="9144">
            <a:solidFill>
              <a:srgbClr val="9370DB"/>
            </a:solidFill>
            <a:prstDash val="dash"/>
          </a:ln>
        </p:spPr>
      </p:sp>
      <p:pic>
        <p:nvPicPr>
          <p:cNvPr id="14" name="Image 3" descr="preencoded.png">    </p:cNvPr>
          <p:cNvPicPr>
            <a:picLocks noChangeAspect="1"/>
          </p:cNvPicPr>
          <p:nvPr/>
        </p:nvPicPr>
        <p:blipFill>
          <a:blip r:embed="rId4"/>
          <a:stretch>
            <a:fillRect/>
          </a:stretch>
        </p:blipFill>
        <p:spPr>
          <a:xfrm>
            <a:off x="7286625" y="1423392"/>
            <a:ext cx="228600" cy="228600"/>
          </a:xfrm>
          <a:prstGeom prst="rect">
            <a:avLst/>
          </a:prstGeom>
        </p:spPr>
      </p:pic>
      <p:sp>
        <p:nvSpPr>
          <p:cNvPr id="15" name="Text 8"/>
          <p:cNvSpPr/>
          <p:nvPr/>
        </p:nvSpPr>
        <p:spPr>
          <a:xfrm>
            <a:off x="6236494" y="1923455"/>
            <a:ext cx="2328863" cy="217884"/>
          </a:xfrm>
          <a:prstGeom prst="rect">
            <a:avLst/>
          </a:prstGeom>
          <a:noFill/>
          <a:ln/>
        </p:spPr>
        <p:txBody>
          <a:bodyPr wrap="square" lIns="0" tIns="0" rIns="0" bIns="0" rtlCol="0" anchor="t">
            <a:spAutoFit/>
          </a:bodyPr>
          <a:lstStyle/>
          <a:p>
            <a:pPr algn="ctr"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KATEGORIYA KASHFIYOTI</a:t>
            </a:r>
            <a:endParaRPr lang="en-US" sz="1250" dirty="0"/>
          </a:p>
        </p:txBody>
      </p:sp>
      <p:sp>
        <p:nvSpPr>
          <p:cNvPr id="16" name="Text 9"/>
          <p:cNvSpPr/>
          <p:nvPr/>
        </p:nvSpPr>
        <p:spPr>
          <a:xfrm>
            <a:off x="6236494" y="2227064"/>
            <a:ext cx="2328863" cy="578644"/>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333333"/>
                </a:solidFill>
                <a:latin typeface="Inter" pitchFamily="34" charset="0"/>
                <a:ea typeface="Inter" pitchFamily="34" charset="-122"/>
                <a:cs typeface="Inter" pitchFamily="34" charset="-120"/>
              </a:rPr>
              <a:t>Foydalanuvchini supermarket, gullar yoki pet shop kabi yangi yo'nalishlarga yo'naltirish.</a:t>
            </a:r>
            <a:endParaRPr lang="en-US" sz="950" dirty="0"/>
          </a:p>
        </p:txBody>
      </p:sp>
      <p:sp>
        <p:nvSpPr>
          <p:cNvPr id="17" name="Text 10"/>
          <p:cNvSpPr/>
          <p:nvPr/>
        </p:nvSpPr>
        <p:spPr>
          <a:xfrm>
            <a:off x="7642027" y="4898827"/>
            <a:ext cx="1351955"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SLIDE_03 // SOLUTION_OVERVIEW</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292894"/>
            <a:ext cx="8272463"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AI qanday ishlaydi?</a:t>
            </a:r>
            <a:endParaRPr lang="en-US" sz="2450" dirty="0"/>
          </a:p>
        </p:txBody>
      </p:sp>
      <p:sp>
        <p:nvSpPr>
          <p:cNvPr id="5" name="Shape 1"/>
          <p:cNvSpPr/>
          <p:nvPr/>
        </p:nvSpPr>
        <p:spPr>
          <a:xfrm>
            <a:off x="435769" y="1387673"/>
            <a:ext cx="2562234" cy="2657475"/>
          </a:xfrm>
          <a:prstGeom prst="rect">
            <a:avLst/>
          </a:prstGeom>
          <a:solidFill>
            <a:srgbClr val="E6E6FA"/>
          </a:solidFill>
          <a:ln w="9144">
            <a:solidFill>
              <a:srgbClr val="4B0082"/>
            </a:solidFill>
            <a:prstDash val="solid"/>
          </a:ln>
        </p:spPr>
      </p:sp>
      <p:sp>
        <p:nvSpPr>
          <p:cNvPr id="6" name="Text 2"/>
          <p:cNvSpPr/>
          <p:nvPr/>
        </p:nvSpPr>
        <p:spPr>
          <a:xfrm>
            <a:off x="578644" y="1537692"/>
            <a:ext cx="2266941" cy="280392"/>
          </a:xfrm>
          <a:prstGeom prst="rect">
            <a:avLst/>
          </a:prstGeom>
          <a:noFill/>
          <a:ln/>
        </p:spPr>
        <p:txBody>
          <a:bodyPr wrap="square" lIns="0" tIns="0" rIns="0" bIns="85090" rtlCol="0" anchor="t">
            <a:spAutoFit/>
          </a:bodyPr>
          <a:lstStyle/>
          <a:p>
            <a:pPr algn="ctr" indent="0" marL="0">
              <a:buNone/>
            </a:pPr>
            <a:r>
              <a:rPr lang="en-US" sz="1150" dirty="0">
                <a:solidFill>
                  <a:srgbClr val="4B0082"/>
                </a:solidFill>
                <a:latin typeface="Space Grotesk Medium" pitchFamily="34" charset="0"/>
                <a:ea typeface="Space Grotesk Medium" pitchFamily="34" charset="-122"/>
                <a:cs typeface="Space Grotesk Medium" pitchFamily="34" charset="-120"/>
              </a:rPr>
              <a:t>INPUT DATA</a:t>
            </a:r>
            <a:endParaRPr lang="en-US" sz="1150" dirty="0"/>
          </a:p>
        </p:txBody>
      </p:sp>
      <p:sp>
        <p:nvSpPr>
          <p:cNvPr id="7" name="Text 3"/>
          <p:cNvSpPr/>
          <p:nvPr/>
        </p:nvSpPr>
        <p:spPr>
          <a:xfrm>
            <a:off x="864394" y="1960959"/>
            <a:ext cx="1981191"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Buyurtmalar tarixi</a:t>
            </a:r>
            <a:endParaRPr lang="en-US" sz="850" dirty="0"/>
          </a:p>
        </p:txBody>
      </p:sp>
      <p:sp>
        <p:nvSpPr>
          <p:cNvPr id="8" name="Text 4"/>
          <p:cNvSpPr/>
          <p:nvPr/>
        </p:nvSpPr>
        <p:spPr>
          <a:xfrm>
            <a:off x="864394" y="2166677"/>
            <a:ext cx="1981191"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Kategoriya moyilligi</a:t>
            </a:r>
            <a:endParaRPr lang="en-US" sz="850" dirty="0"/>
          </a:p>
        </p:txBody>
      </p:sp>
      <p:sp>
        <p:nvSpPr>
          <p:cNvPr id="9" name="Text 5"/>
          <p:cNvSpPr/>
          <p:nvPr/>
        </p:nvSpPr>
        <p:spPr>
          <a:xfrm>
            <a:off x="864394" y="2372395"/>
            <a:ext cx="1981191"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Promo sezgirlik</a:t>
            </a:r>
            <a:endParaRPr lang="en-US" sz="850" dirty="0"/>
          </a:p>
        </p:txBody>
      </p:sp>
      <p:sp>
        <p:nvSpPr>
          <p:cNvPr id="10" name="Text 6"/>
          <p:cNvSpPr/>
          <p:nvPr/>
        </p:nvSpPr>
        <p:spPr>
          <a:xfrm>
            <a:off x="864394" y="2578112"/>
            <a:ext cx="1981191"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Ilova ichidagi xatti-harakat</a:t>
            </a:r>
            <a:endParaRPr lang="en-US" sz="850" dirty="0"/>
          </a:p>
        </p:txBody>
      </p:sp>
      <p:pic>
        <p:nvPicPr>
          <p:cNvPr id="11" name="Image 1" descr="preencoded.png">    </p:cNvPr>
          <p:cNvPicPr>
            <a:picLocks noChangeAspect="1"/>
          </p:cNvPicPr>
          <p:nvPr/>
        </p:nvPicPr>
        <p:blipFill>
          <a:blip r:embed="rId2"/>
          <a:stretch>
            <a:fillRect/>
          </a:stretch>
        </p:blipFill>
        <p:spPr>
          <a:xfrm>
            <a:off x="2988459" y="2569964"/>
            <a:ext cx="285750" cy="285750"/>
          </a:xfrm>
          <a:prstGeom prst="rect">
            <a:avLst/>
          </a:prstGeom>
        </p:spPr>
      </p:pic>
      <p:sp>
        <p:nvSpPr>
          <p:cNvPr id="12" name="Shape 7"/>
          <p:cNvSpPr/>
          <p:nvPr/>
        </p:nvSpPr>
        <p:spPr>
          <a:xfrm>
            <a:off x="3274209" y="1380530"/>
            <a:ext cx="2581266" cy="2671763"/>
          </a:xfrm>
          <a:prstGeom prst="rect">
            <a:avLst/>
          </a:prstGeom>
          <a:solidFill>
            <a:srgbClr val="FFFFFF"/>
          </a:solidFill>
          <a:ln w="18288">
            <a:solidFill>
              <a:srgbClr val="4B0082"/>
            </a:solidFill>
            <a:prstDash val="dash"/>
          </a:ln>
        </p:spPr>
      </p:sp>
      <p:sp>
        <p:nvSpPr>
          <p:cNvPr id="13" name="Text 8"/>
          <p:cNvSpPr/>
          <p:nvPr/>
        </p:nvSpPr>
        <p:spPr>
          <a:xfrm>
            <a:off x="3426628" y="1530548"/>
            <a:ext cx="2276484" cy="280392"/>
          </a:xfrm>
          <a:prstGeom prst="rect">
            <a:avLst/>
          </a:prstGeom>
          <a:noFill/>
          <a:ln/>
        </p:spPr>
        <p:txBody>
          <a:bodyPr wrap="square" lIns="0" tIns="0" rIns="0" bIns="85090" rtlCol="0" anchor="t">
            <a:spAutoFit/>
          </a:bodyPr>
          <a:lstStyle/>
          <a:p>
            <a:pPr algn="ctr" indent="0" marL="0">
              <a:buNone/>
            </a:pPr>
            <a:r>
              <a:rPr lang="en-US" sz="1150" dirty="0">
                <a:solidFill>
                  <a:srgbClr val="4B0082"/>
                </a:solidFill>
                <a:latin typeface="Space Grotesk Medium" pitchFamily="34" charset="0"/>
                <a:ea typeface="Space Grotesk Medium" pitchFamily="34" charset="-122"/>
                <a:cs typeface="Space Grotesk Medium" pitchFamily="34" charset="-120"/>
              </a:rPr>
              <a:t>AI SCORING ENGINE</a:t>
            </a:r>
            <a:endParaRPr lang="en-US" sz="1150" dirty="0"/>
          </a:p>
        </p:txBody>
      </p:sp>
      <p:sp>
        <p:nvSpPr>
          <p:cNvPr id="14" name="Text 9"/>
          <p:cNvSpPr/>
          <p:nvPr/>
        </p:nvSpPr>
        <p:spPr>
          <a:xfrm>
            <a:off x="3712378" y="1953816"/>
            <a:ext cx="1990734"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Affinity Scoring</a:t>
            </a:r>
            <a:endParaRPr lang="en-US" sz="850" dirty="0"/>
          </a:p>
        </p:txBody>
      </p:sp>
      <p:sp>
        <p:nvSpPr>
          <p:cNvPr id="15" name="Text 10"/>
          <p:cNvSpPr/>
          <p:nvPr/>
        </p:nvSpPr>
        <p:spPr>
          <a:xfrm>
            <a:off x="3712378" y="2159533"/>
            <a:ext cx="1990734"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Churn Risk Detection</a:t>
            </a:r>
            <a:endParaRPr lang="en-US" sz="850" dirty="0"/>
          </a:p>
        </p:txBody>
      </p:sp>
      <p:sp>
        <p:nvSpPr>
          <p:cNvPr id="16" name="Text 11"/>
          <p:cNvSpPr/>
          <p:nvPr/>
        </p:nvSpPr>
        <p:spPr>
          <a:xfrm>
            <a:off x="3712378" y="2365251"/>
            <a:ext cx="1990734"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Context-Aware Model</a:t>
            </a:r>
            <a:endParaRPr lang="en-US" sz="850" dirty="0"/>
          </a:p>
        </p:txBody>
      </p:sp>
      <p:sp>
        <p:nvSpPr>
          <p:cNvPr id="17" name="Text 12"/>
          <p:cNvSpPr/>
          <p:nvPr/>
        </p:nvSpPr>
        <p:spPr>
          <a:xfrm>
            <a:off x="3712378" y="2570969"/>
            <a:ext cx="1990734"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Real-time Ranking</a:t>
            </a:r>
            <a:endParaRPr lang="en-US" sz="850" dirty="0"/>
          </a:p>
        </p:txBody>
      </p:sp>
      <p:pic>
        <p:nvPicPr>
          <p:cNvPr id="18" name="Image 2" descr="preencoded.png">    </p:cNvPr>
          <p:cNvPicPr>
            <a:picLocks noChangeAspect="1"/>
          </p:cNvPicPr>
          <p:nvPr/>
        </p:nvPicPr>
        <p:blipFill>
          <a:blip r:embed="rId3"/>
          <a:stretch>
            <a:fillRect/>
          </a:stretch>
        </p:blipFill>
        <p:spPr>
          <a:xfrm>
            <a:off x="5845987" y="2562820"/>
            <a:ext cx="285750" cy="285750"/>
          </a:xfrm>
          <a:prstGeom prst="rect">
            <a:avLst/>
          </a:prstGeom>
        </p:spPr>
      </p:pic>
      <p:sp>
        <p:nvSpPr>
          <p:cNvPr id="19" name="Shape 13"/>
          <p:cNvSpPr/>
          <p:nvPr/>
        </p:nvSpPr>
        <p:spPr>
          <a:xfrm>
            <a:off x="6131737" y="1380530"/>
            <a:ext cx="2576522" cy="2657475"/>
          </a:xfrm>
          <a:prstGeom prst="rect">
            <a:avLst/>
          </a:prstGeom>
          <a:solidFill>
            <a:srgbClr val="E6E6FA"/>
          </a:solidFill>
          <a:ln w="9144">
            <a:solidFill>
              <a:srgbClr val="4B0082"/>
            </a:solidFill>
            <a:prstDash val="solid"/>
          </a:ln>
        </p:spPr>
      </p:sp>
      <p:sp>
        <p:nvSpPr>
          <p:cNvPr id="20" name="Text 14"/>
          <p:cNvSpPr/>
          <p:nvPr/>
        </p:nvSpPr>
        <p:spPr>
          <a:xfrm>
            <a:off x="6284100" y="1523405"/>
            <a:ext cx="2281228" cy="280392"/>
          </a:xfrm>
          <a:prstGeom prst="rect">
            <a:avLst/>
          </a:prstGeom>
          <a:noFill/>
          <a:ln/>
        </p:spPr>
        <p:txBody>
          <a:bodyPr wrap="square" lIns="0" tIns="0" rIns="0" bIns="85090" rtlCol="0" anchor="t">
            <a:spAutoFit/>
          </a:bodyPr>
          <a:lstStyle/>
          <a:p>
            <a:pPr algn="ctr" indent="0" marL="0">
              <a:buNone/>
            </a:pPr>
            <a:r>
              <a:rPr lang="en-US" sz="1150" dirty="0">
                <a:solidFill>
                  <a:srgbClr val="4B0082"/>
                </a:solidFill>
                <a:latin typeface="Space Grotesk Medium" pitchFamily="34" charset="0"/>
                <a:ea typeface="Space Grotesk Medium" pitchFamily="34" charset="-122"/>
                <a:cs typeface="Space Grotesk Medium" pitchFamily="34" charset="-120"/>
              </a:rPr>
              <a:t>OUTPUT: NBO</a:t>
            </a:r>
            <a:endParaRPr lang="en-US" sz="1150" dirty="0"/>
          </a:p>
        </p:txBody>
      </p:sp>
      <p:sp>
        <p:nvSpPr>
          <p:cNvPr id="21" name="Text 15"/>
          <p:cNvSpPr/>
          <p:nvPr/>
        </p:nvSpPr>
        <p:spPr>
          <a:xfrm>
            <a:off x="6569850" y="1946672"/>
            <a:ext cx="1995478"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Next Best Offer</a:t>
            </a:r>
            <a:endParaRPr lang="en-US" sz="850" dirty="0"/>
          </a:p>
        </p:txBody>
      </p:sp>
      <p:sp>
        <p:nvSpPr>
          <p:cNvPr id="22" name="Text 16"/>
          <p:cNvSpPr/>
          <p:nvPr/>
        </p:nvSpPr>
        <p:spPr>
          <a:xfrm>
            <a:off x="6569850" y="2152390"/>
            <a:ext cx="1995478"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Shaxsiylashtirilgan promo</a:t>
            </a:r>
            <a:endParaRPr lang="en-US" sz="850" dirty="0"/>
          </a:p>
        </p:txBody>
      </p:sp>
      <p:sp>
        <p:nvSpPr>
          <p:cNvPr id="23" name="Text 17"/>
          <p:cNvSpPr/>
          <p:nvPr/>
        </p:nvSpPr>
        <p:spPr>
          <a:xfrm>
            <a:off x="6569850" y="2358107"/>
            <a:ext cx="1995478"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Optimal kategoriya</a:t>
            </a:r>
            <a:endParaRPr lang="en-US" sz="850" dirty="0"/>
          </a:p>
        </p:txBody>
      </p:sp>
      <p:sp>
        <p:nvSpPr>
          <p:cNvPr id="24" name="Text 18"/>
          <p:cNvSpPr/>
          <p:nvPr/>
        </p:nvSpPr>
        <p:spPr>
          <a:xfrm>
            <a:off x="6569850" y="2563825"/>
            <a:ext cx="1995478" cy="205718"/>
          </a:xfrm>
          <a:prstGeom prst="rect">
            <a:avLst/>
          </a:prstGeom>
          <a:noFill/>
          <a:ln/>
        </p:spPr>
        <p:txBody>
          <a:bodyPr wrap="none" lIns="0" tIns="0" rIns="0" bIns="0" rtlCol="0" anchor="t">
            <a:spAutoFit/>
          </a:bodyPr>
          <a:lstStyle/>
          <a:p>
            <a:pPr algn="l" indent="0" marL="0">
              <a:lnSpc>
                <a:spcPct val="144000"/>
              </a:lnSpc>
              <a:buNone/>
            </a:pPr>
            <a:r>
              <a:rPr lang="en-US" sz="850" dirty="0">
                <a:solidFill>
                  <a:srgbClr val="333333"/>
                </a:solidFill>
                <a:latin typeface="Inter" pitchFamily="34" charset="0"/>
                <a:ea typeface="Inter" pitchFamily="34" charset="-122"/>
                <a:cs typeface="Inter" pitchFamily="34" charset="-120"/>
              </a:rPr>
              <a:t>Push-trigger</a:t>
            </a:r>
            <a:endParaRPr lang="en-US" sz="850" dirty="0"/>
          </a:p>
        </p:txBody>
      </p:sp>
      <p:sp>
        <p:nvSpPr>
          <p:cNvPr id="25" name="Text 19"/>
          <p:cNvSpPr/>
          <p:nvPr/>
        </p:nvSpPr>
        <p:spPr>
          <a:xfrm>
            <a:off x="7429500" y="4884539"/>
            <a:ext cx="1564481"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SLIDE_04 // AI_ENGINE_ARCHITECTURE</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292894"/>
            <a:ext cx="8272463"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UX Flow: Foydalanuvchi yo'li</a:t>
            </a:r>
            <a:endParaRPr lang="en-US" sz="2450" dirty="0"/>
          </a:p>
        </p:txBody>
      </p:sp>
      <p:sp>
        <p:nvSpPr>
          <p:cNvPr id="5" name="Shape 1"/>
          <p:cNvSpPr/>
          <p:nvPr/>
        </p:nvSpPr>
        <p:spPr>
          <a:xfrm>
            <a:off x="292894" y="1666280"/>
            <a:ext cx="1443038" cy="1443038"/>
          </a:xfrm>
          <a:prstGeom prst="rect">
            <a:avLst/>
          </a:prstGeom>
          <a:solidFill>
            <a:srgbClr val="E6E6FA"/>
          </a:solidFill>
          <a:ln w="9144">
            <a:solidFill>
              <a:srgbClr val="4B0082"/>
            </a:solidFill>
            <a:prstDash val="dash"/>
          </a:ln>
        </p:spPr>
      </p:sp>
      <p:pic>
        <p:nvPicPr>
          <p:cNvPr id="6" name="Image 1" descr="preencoded.png">    </p:cNvPr>
          <p:cNvPicPr>
            <a:picLocks noChangeAspect="1"/>
          </p:cNvPicPr>
          <p:nvPr/>
        </p:nvPicPr>
        <p:blipFill>
          <a:blip r:embed="rId2"/>
          <a:stretch>
            <a:fillRect/>
          </a:stretch>
        </p:blipFill>
        <p:spPr>
          <a:xfrm>
            <a:off x="846534" y="2105620"/>
            <a:ext cx="321469" cy="285750"/>
          </a:xfrm>
          <a:prstGeom prst="rect">
            <a:avLst/>
          </a:prstGeom>
        </p:spPr>
      </p:pic>
      <p:sp>
        <p:nvSpPr>
          <p:cNvPr id="7" name="Text 2"/>
          <p:cNvSpPr/>
          <p:nvPr/>
        </p:nvSpPr>
        <p:spPr>
          <a:xfrm>
            <a:off x="664369" y="2532459"/>
            <a:ext cx="685800"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BUYURTMA</a:t>
            </a:r>
            <a:endParaRPr lang="en-US" sz="950" dirty="0"/>
          </a:p>
        </p:txBody>
      </p:sp>
      <p:pic>
        <p:nvPicPr>
          <p:cNvPr id="8" name="Image 2" descr="preencoded.png">    </p:cNvPr>
          <p:cNvPicPr>
            <a:picLocks noChangeAspect="1"/>
          </p:cNvPicPr>
          <p:nvPr/>
        </p:nvPicPr>
        <p:blipFill>
          <a:blip r:embed="rId3"/>
          <a:stretch>
            <a:fillRect/>
          </a:stretch>
        </p:blipFill>
        <p:spPr>
          <a:xfrm>
            <a:off x="2093119" y="2309217"/>
            <a:ext cx="71438" cy="142875"/>
          </a:xfrm>
          <a:prstGeom prst="rect">
            <a:avLst/>
          </a:prstGeom>
        </p:spPr>
      </p:pic>
      <p:sp>
        <p:nvSpPr>
          <p:cNvPr id="9" name="Shape 3"/>
          <p:cNvSpPr/>
          <p:nvPr/>
        </p:nvSpPr>
        <p:spPr>
          <a:xfrm>
            <a:off x="2060972" y="1666280"/>
            <a:ext cx="1443038" cy="1443038"/>
          </a:xfrm>
          <a:prstGeom prst="rect">
            <a:avLst/>
          </a:prstGeom>
          <a:solidFill>
            <a:srgbClr val="E6E6FA"/>
          </a:solidFill>
          <a:ln w="9144">
            <a:solidFill>
              <a:srgbClr val="4B0082"/>
            </a:solidFill>
            <a:prstDash val="dash"/>
          </a:ln>
        </p:spPr>
      </p:sp>
      <p:pic>
        <p:nvPicPr>
          <p:cNvPr id="10" name="Image 3" descr="preencoded.png">    </p:cNvPr>
          <p:cNvPicPr>
            <a:picLocks noChangeAspect="1"/>
          </p:cNvPicPr>
          <p:nvPr/>
        </p:nvPicPr>
        <p:blipFill>
          <a:blip r:embed="rId4"/>
          <a:stretch>
            <a:fillRect/>
          </a:stretch>
        </p:blipFill>
        <p:spPr>
          <a:xfrm>
            <a:off x="2671763" y="2105620"/>
            <a:ext cx="214313" cy="285750"/>
          </a:xfrm>
          <a:prstGeom prst="rect">
            <a:avLst/>
          </a:prstGeom>
        </p:spPr>
      </p:pic>
      <p:sp>
        <p:nvSpPr>
          <p:cNvPr id="11" name="Text 4"/>
          <p:cNvSpPr/>
          <p:nvPr/>
        </p:nvSpPr>
        <p:spPr>
          <a:xfrm>
            <a:off x="2501205" y="2532459"/>
            <a:ext cx="555427"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KUZATUV</a:t>
            </a:r>
            <a:endParaRPr lang="en-US" sz="950" dirty="0"/>
          </a:p>
        </p:txBody>
      </p:sp>
      <p:pic>
        <p:nvPicPr>
          <p:cNvPr id="12" name="Image 4" descr="preencoded.png">    </p:cNvPr>
          <p:cNvPicPr>
            <a:picLocks noChangeAspect="1"/>
          </p:cNvPicPr>
          <p:nvPr/>
        </p:nvPicPr>
        <p:blipFill>
          <a:blip r:embed="rId5"/>
          <a:stretch>
            <a:fillRect/>
          </a:stretch>
        </p:blipFill>
        <p:spPr>
          <a:xfrm>
            <a:off x="3864769" y="2309217"/>
            <a:ext cx="71438" cy="142875"/>
          </a:xfrm>
          <a:prstGeom prst="rect">
            <a:avLst/>
          </a:prstGeom>
        </p:spPr>
      </p:pic>
      <p:sp>
        <p:nvSpPr>
          <p:cNvPr id="13" name="Shape 5"/>
          <p:cNvSpPr/>
          <p:nvPr/>
        </p:nvSpPr>
        <p:spPr>
          <a:xfrm>
            <a:off x="3836194" y="1666280"/>
            <a:ext cx="1443038" cy="1443038"/>
          </a:xfrm>
          <a:prstGeom prst="rect">
            <a:avLst/>
          </a:prstGeom>
          <a:solidFill>
            <a:srgbClr val="E6E6FA"/>
          </a:solidFill>
          <a:ln w="9144">
            <a:solidFill>
              <a:srgbClr val="4B0082"/>
            </a:solidFill>
            <a:prstDash val="dash"/>
          </a:ln>
        </p:spPr>
      </p:sp>
      <p:pic>
        <p:nvPicPr>
          <p:cNvPr id="14" name="Image 5" descr="preencoded.png">    </p:cNvPr>
          <p:cNvPicPr>
            <a:picLocks noChangeAspect="1"/>
          </p:cNvPicPr>
          <p:nvPr/>
        </p:nvPicPr>
        <p:blipFill>
          <a:blip r:embed="rId6"/>
          <a:stretch>
            <a:fillRect/>
          </a:stretch>
        </p:blipFill>
        <p:spPr>
          <a:xfrm>
            <a:off x="4379119" y="2105620"/>
            <a:ext cx="357188" cy="285750"/>
          </a:xfrm>
          <a:prstGeom prst="rect">
            <a:avLst/>
          </a:prstGeom>
        </p:spPr>
      </p:pic>
      <p:sp>
        <p:nvSpPr>
          <p:cNvPr id="15" name="Text 6"/>
          <p:cNvSpPr/>
          <p:nvPr/>
        </p:nvSpPr>
        <p:spPr>
          <a:xfrm>
            <a:off x="4398764" y="2532459"/>
            <a:ext cx="317897"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O'YIN</a:t>
            </a:r>
            <a:endParaRPr lang="en-US" sz="950" dirty="0"/>
          </a:p>
        </p:txBody>
      </p:sp>
      <p:pic>
        <p:nvPicPr>
          <p:cNvPr id="16" name="Image 6" descr="preencoded.png">    </p:cNvPr>
          <p:cNvPicPr>
            <a:picLocks noChangeAspect="1"/>
          </p:cNvPicPr>
          <p:nvPr/>
        </p:nvPicPr>
        <p:blipFill>
          <a:blip r:embed="rId7"/>
          <a:stretch>
            <a:fillRect/>
          </a:stretch>
        </p:blipFill>
        <p:spPr>
          <a:xfrm>
            <a:off x="5643563" y="2309217"/>
            <a:ext cx="71438" cy="142875"/>
          </a:xfrm>
          <a:prstGeom prst="rect">
            <a:avLst/>
          </a:prstGeom>
        </p:spPr>
      </p:pic>
      <p:sp>
        <p:nvSpPr>
          <p:cNvPr id="17" name="Shape 7"/>
          <p:cNvSpPr/>
          <p:nvPr/>
        </p:nvSpPr>
        <p:spPr>
          <a:xfrm>
            <a:off x="5618559" y="1666280"/>
            <a:ext cx="1443038" cy="1443038"/>
          </a:xfrm>
          <a:prstGeom prst="rect">
            <a:avLst/>
          </a:prstGeom>
          <a:solidFill>
            <a:srgbClr val="E6E6FA"/>
          </a:solidFill>
          <a:ln w="9144">
            <a:solidFill>
              <a:srgbClr val="4B0082"/>
            </a:solidFill>
            <a:prstDash val="dash"/>
          </a:ln>
        </p:spPr>
      </p:sp>
      <p:pic>
        <p:nvPicPr>
          <p:cNvPr id="18" name="Image 7" descr="preencoded.png">    </p:cNvPr>
          <p:cNvPicPr>
            <a:picLocks noChangeAspect="1"/>
          </p:cNvPicPr>
          <p:nvPr/>
        </p:nvPicPr>
        <p:blipFill>
          <a:blip r:embed="rId8"/>
          <a:stretch>
            <a:fillRect/>
          </a:stretch>
        </p:blipFill>
        <p:spPr>
          <a:xfrm>
            <a:off x="6200775" y="2105620"/>
            <a:ext cx="285750" cy="285750"/>
          </a:xfrm>
          <a:prstGeom prst="rect">
            <a:avLst/>
          </a:prstGeom>
        </p:spPr>
      </p:pic>
      <p:sp>
        <p:nvSpPr>
          <p:cNvPr id="19" name="Text 8"/>
          <p:cNvSpPr/>
          <p:nvPr/>
        </p:nvSpPr>
        <p:spPr>
          <a:xfrm>
            <a:off x="6050756" y="2532459"/>
            <a:ext cx="585788"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MUKOFOT</a:t>
            </a:r>
            <a:endParaRPr lang="en-US" sz="950" dirty="0"/>
          </a:p>
        </p:txBody>
      </p:sp>
      <p:pic>
        <p:nvPicPr>
          <p:cNvPr id="20" name="Image 8" descr="preencoded.png">    </p:cNvPr>
          <p:cNvPicPr>
            <a:picLocks noChangeAspect="1"/>
          </p:cNvPicPr>
          <p:nvPr/>
        </p:nvPicPr>
        <p:blipFill>
          <a:blip r:embed="rId9"/>
          <a:stretch>
            <a:fillRect/>
          </a:stretch>
        </p:blipFill>
        <p:spPr>
          <a:xfrm>
            <a:off x="7429500" y="2309217"/>
            <a:ext cx="71438" cy="142875"/>
          </a:xfrm>
          <a:prstGeom prst="rect">
            <a:avLst/>
          </a:prstGeom>
        </p:spPr>
      </p:pic>
      <p:sp>
        <p:nvSpPr>
          <p:cNvPr id="21" name="Shape 9"/>
          <p:cNvSpPr/>
          <p:nvPr/>
        </p:nvSpPr>
        <p:spPr>
          <a:xfrm>
            <a:off x="7408069" y="1666280"/>
            <a:ext cx="1443038" cy="1443038"/>
          </a:xfrm>
          <a:prstGeom prst="rect">
            <a:avLst/>
          </a:prstGeom>
          <a:solidFill>
            <a:srgbClr val="E6E6FA"/>
          </a:solidFill>
          <a:ln w="9144">
            <a:solidFill>
              <a:srgbClr val="4B0082"/>
            </a:solidFill>
            <a:prstDash val="dash"/>
          </a:ln>
        </p:spPr>
      </p:sp>
      <p:pic>
        <p:nvPicPr>
          <p:cNvPr id="22" name="Image 9" descr="preencoded.png">    </p:cNvPr>
          <p:cNvPicPr>
            <a:picLocks noChangeAspect="1"/>
          </p:cNvPicPr>
          <p:nvPr/>
        </p:nvPicPr>
        <p:blipFill>
          <a:blip r:embed="rId10"/>
          <a:stretch>
            <a:fillRect/>
          </a:stretch>
        </p:blipFill>
        <p:spPr>
          <a:xfrm>
            <a:off x="7993856" y="2098477"/>
            <a:ext cx="285750" cy="285750"/>
          </a:xfrm>
          <a:prstGeom prst="rect">
            <a:avLst/>
          </a:prstGeom>
        </p:spPr>
      </p:pic>
      <p:sp>
        <p:nvSpPr>
          <p:cNvPr id="23" name="Text 10"/>
          <p:cNvSpPr/>
          <p:nvPr/>
        </p:nvSpPr>
        <p:spPr>
          <a:xfrm>
            <a:off x="7764363" y="2525316"/>
            <a:ext cx="744736"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KONVERSIYA</a:t>
            </a:r>
            <a:endParaRPr lang="en-US" sz="950" dirty="0"/>
          </a:p>
        </p:txBody>
      </p:sp>
      <p:sp>
        <p:nvSpPr>
          <p:cNvPr id="24" name="Text 11"/>
          <p:cNvSpPr/>
          <p:nvPr/>
        </p:nvSpPr>
        <p:spPr>
          <a:xfrm>
            <a:off x="435769" y="3523655"/>
            <a:ext cx="1540176" cy="242888"/>
          </a:xfrm>
          <a:prstGeom prst="rect">
            <a:avLst/>
          </a:prstGeom>
          <a:noFill/>
          <a:ln/>
        </p:spPr>
        <p:txBody>
          <a:bodyPr wrap="square" lIns="0" tIns="0" rIns="0" bIns="0" rtlCol="0" anchor="t">
            <a:spAutoFit/>
          </a:bodyPr>
          <a:lstStyle/>
          <a:p>
            <a:pPr algn="ctr" indent="0" marL="0">
              <a:buNone/>
            </a:pPr>
            <a:r>
              <a:rPr lang="en-US" sz="750" dirty="0">
                <a:solidFill>
                  <a:srgbClr val="666666"/>
                </a:solidFill>
                <a:latin typeface="Inter" pitchFamily="34" charset="0"/>
                <a:ea typeface="Inter" pitchFamily="34" charset="-122"/>
                <a:cs typeface="Inter" pitchFamily="34" charset="-120"/>
              </a:rPr>
              <a:t>Foydalanuvchi ovqatga buyurtma beradi</a:t>
            </a:r>
            <a:endParaRPr lang="en-US" sz="750" dirty="0"/>
          </a:p>
        </p:txBody>
      </p:sp>
      <p:sp>
        <p:nvSpPr>
          <p:cNvPr id="25" name="Text 12"/>
          <p:cNvSpPr/>
          <p:nvPr/>
        </p:nvSpPr>
        <p:spPr>
          <a:xfrm>
            <a:off x="2118820" y="3523655"/>
            <a:ext cx="1540204" cy="242888"/>
          </a:xfrm>
          <a:prstGeom prst="rect">
            <a:avLst/>
          </a:prstGeom>
          <a:noFill/>
          <a:ln/>
        </p:spPr>
        <p:txBody>
          <a:bodyPr wrap="square" lIns="0" tIns="0" rIns="0" bIns="0" rtlCol="0" anchor="t">
            <a:spAutoFit/>
          </a:bodyPr>
          <a:lstStyle/>
          <a:p>
            <a:pPr algn="ctr" indent="0" marL="0">
              <a:buNone/>
            </a:pPr>
            <a:r>
              <a:rPr lang="en-US" sz="750" dirty="0">
                <a:solidFill>
                  <a:srgbClr val="666666"/>
                </a:solidFill>
                <a:latin typeface="Inter" pitchFamily="34" charset="0"/>
                <a:ea typeface="Inter" pitchFamily="34" charset="-122"/>
                <a:cs typeface="Inter" pitchFamily="34" charset="-120"/>
              </a:rPr>
              <a:t>Kutish ekranida buyurtmani kuzatadi</a:t>
            </a:r>
            <a:endParaRPr lang="en-US" sz="750" dirty="0"/>
          </a:p>
        </p:txBody>
      </p:sp>
      <p:sp>
        <p:nvSpPr>
          <p:cNvPr id="26" name="Text 13"/>
          <p:cNvSpPr/>
          <p:nvPr/>
        </p:nvSpPr>
        <p:spPr>
          <a:xfrm>
            <a:off x="3801898" y="3523655"/>
            <a:ext cx="1540176" cy="242888"/>
          </a:xfrm>
          <a:prstGeom prst="rect">
            <a:avLst/>
          </a:prstGeom>
          <a:noFill/>
          <a:ln/>
        </p:spPr>
        <p:txBody>
          <a:bodyPr wrap="square" lIns="0" tIns="0" rIns="0" bIns="0" rtlCol="0" anchor="t">
            <a:spAutoFit/>
          </a:bodyPr>
          <a:lstStyle/>
          <a:p>
            <a:pPr algn="ctr" indent="0" marL="0">
              <a:buNone/>
            </a:pPr>
            <a:r>
              <a:rPr lang="en-US" sz="750" dirty="0">
                <a:solidFill>
                  <a:srgbClr val="666666"/>
                </a:solidFill>
                <a:latin typeface="Inter" pitchFamily="34" charset="0"/>
                <a:ea typeface="Inter" pitchFamily="34" charset="-122"/>
                <a:cs typeface="Inter" pitchFamily="34" charset="-120"/>
              </a:rPr>
              <a:t>Interaktiv mini-o'yinni boshlaydi</a:t>
            </a:r>
            <a:endParaRPr lang="en-US" sz="750" dirty="0"/>
          </a:p>
        </p:txBody>
      </p:sp>
      <p:sp>
        <p:nvSpPr>
          <p:cNvPr id="27" name="Text 14"/>
          <p:cNvSpPr/>
          <p:nvPr/>
        </p:nvSpPr>
        <p:spPr>
          <a:xfrm>
            <a:off x="5484949" y="3523655"/>
            <a:ext cx="1540204" cy="242888"/>
          </a:xfrm>
          <a:prstGeom prst="rect">
            <a:avLst/>
          </a:prstGeom>
          <a:noFill/>
          <a:ln/>
        </p:spPr>
        <p:txBody>
          <a:bodyPr wrap="square" lIns="0" tIns="0" rIns="0" bIns="0" rtlCol="0" anchor="t">
            <a:spAutoFit/>
          </a:bodyPr>
          <a:lstStyle/>
          <a:p>
            <a:pPr algn="ctr" indent="0" marL="0">
              <a:buNone/>
            </a:pPr>
            <a:r>
              <a:rPr lang="en-US" sz="750" dirty="0">
                <a:solidFill>
                  <a:srgbClr val="666666"/>
                </a:solidFill>
                <a:latin typeface="Inter" pitchFamily="34" charset="0"/>
                <a:ea typeface="Inter" pitchFamily="34" charset="-122"/>
                <a:cs typeface="Inter" pitchFamily="34" charset="-120"/>
              </a:rPr>
              <a:t>Shaxsiylashtirilgan bonusga ega bo'ladi</a:t>
            </a:r>
            <a:endParaRPr lang="en-US" sz="750" dirty="0"/>
          </a:p>
        </p:txBody>
      </p:sp>
      <p:sp>
        <p:nvSpPr>
          <p:cNvPr id="28" name="Text 15"/>
          <p:cNvSpPr/>
          <p:nvPr/>
        </p:nvSpPr>
        <p:spPr>
          <a:xfrm>
            <a:off x="7168028" y="3523655"/>
            <a:ext cx="1540204" cy="242888"/>
          </a:xfrm>
          <a:prstGeom prst="rect">
            <a:avLst/>
          </a:prstGeom>
          <a:noFill/>
          <a:ln/>
        </p:spPr>
        <p:txBody>
          <a:bodyPr wrap="square" lIns="0" tIns="0" rIns="0" bIns="0" rtlCol="0" anchor="t">
            <a:spAutoFit/>
          </a:bodyPr>
          <a:lstStyle/>
          <a:p>
            <a:pPr algn="ctr" indent="0" marL="0">
              <a:buNone/>
            </a:pPr>
            <a:r>
              <a:rPr lang="en-US" sz="750" dirty="0">
                <a:solidFill>
                  <a:srgbClr val="666666"/>
                </a:solidFill>
                <a:latin typeface="Inter" pitchFamily="34" charset="0"/>
                <a:ea typeface="Inter" pitchFamily="34" charset="-122"/>
                <a:cs typeface="Inter" pitchFamily="34" charset="-120"/>
              </a:rPr>
              <a:t>Yangi kategoriyadan buyurtma beradi</a:t>
            </a:r>
            <a:endParaRPr lang="en-US" sz="750" dirty="0"/>
          </a:p>
        </p:txBody>
      </p:sp>
      <p:sp>
        <p:nvSpPr>
          <p:cNvPr id="29" name="Text 16"/>
          <p:cNvSpPr/>
          <p:nvPr/>
        </p:nvSpPr>
        <p:spPr>
          <a:xfrm>
            <a:off x="7625953" y="4884539"/>
            <a:ext cx="1368028"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SLIDE_05 // USER_JOURNEY_MAP</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292894"/>
            <a:ext cx="8272463" cy="953691"/>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Smart Reward Engine: Shaxsiylashtirilgan Strategiya</a:t>
            </a:r>
            <a:endParaRPr lang="en-US" sz="2450" dirty="0"/>
          </a:p>
        </p:txBody>
      </p:sp>
      <p:sp>
        <p:nvSpPr>
          <p:cNvPr id="5" name="Shape 1"/>
          <p:cNvSpPr/>
          <p:nvPr/>
        </p:nvSpPr>
        <p:spPr>
          <a:xfrm>
            <a:off x="435769" y="1532334"/>
            <a:ext cx="4064794" cy="1730573"/>
          </a:xfrm>
          <a:prstGeom prst="rect">
            <a:avLst/>
          </a:prstGeom>
          <a:solidFill>
            <a:srgbClr val="E6E6FA"/>
          </a:solidFill>
          <a:ln w="9144">
            <a:solidFill>
              <a:srgbClr val="9370DB"/>
            </a:solidFill>
            <a:prstDash val="dash"/>
          </a:ln>
        </p:spPr>
      </p:sp>
      <p:sp>
        <p:nvSpPr>
          <p:cNvPr id="6" name="Shape 2"/>
          <p:cNvSpPr/>
          <p:nvPr/>
        </p:nvSpPr>
        <p:spPr>
          <a:xfrm>
            <a:off x="4054078" y="1532334"/>
            <a:ext cx="446484" cy="166092"/>
          </a:xfrm>
          <a:prstGeom prst="rect">
            <a:avLst/>
          </a:prstGeom>
          <a:solidFill>
            <a:srgbClr val="4B0082"/>
          </a:solidFill>
          <a:ln/>
        </p:spPr>
      </p:sp>
      <p:sp>
        <p:nvSpPr>
          <p:cNvPr id="7" name="Text 3"/>
          <p:cNvSpPr/>
          <p:nvPr/>
        </p:nvSpPr>
        <p:spPr>
          <a:xfrm>
            <a:off x="4054078" y="1532334"/>
            <a:ext cx="446484" cy="166092"/>
          </a:xfrm>
          <a:prstGeom prst="rect">
            <a:avLst/>
          </a:prstGeom>
          <a:noFill/>
          <a:ln/>
        </p:spPr>
        <p:txBody>
          <a:bodyPr wrap="none" lIns="85090" tIns="34036" rIns="85090" bIns="34036" rtlCol="0" anchor="t">
            <a:spAutoFit/>
          </a:bodyPr>
          <a:lstStyle/>
          <a:p>
            <a:pPr algn="l" indent="0" marL="0">
              <a:buNone/>
            </a:pPr>
            <a:r>
              <a:rPr lang="en-US" sz="600" dirty="0">
                <a:solidFill>
                  <a:srgbClr val="FFFFFF"/>
                </a:solidFill>
                <a:latin typeface="Space Grotesk Medium" pitchFamily="34" charset="0"/>
                <a:ea typeface="Space Grotesk Medium" pitchFamily="34" charset="-122"/>
                <a:cs typeface="Space Grotesk Medium" pitchFamily="34" charset="-120"/>
              </a:rPr>
              <a:t>SEG_01</a:t>
            </a:r>
            <a:endParaRPr lang="en-US" sz="600" dirty="0"/>
          </a:p>
        </p:txBody>
      </p:sp>
      <p:pic>
        <p:nvPicPr>
          <p:cNvPr id="8" name="Image 1" descr="preencoded.png">    </p:cNvPr>
          <p:cNvPicPr>
            <a:picLocks noChangeAspect="1"/>
          </p:cNvPicPr>
          <p:nvPr/>
        </p:nvPicPr>
        <p:blipFill>
          <a:blip r:embed="rId2"/>
          <a:stretch>
            <a:fillRect/>
          </a:stretch>
        </p:blipFill>
        <p:spPr>
          <a:xfrm>
            <a:off x="614363" y="1698427"/>
            <a:ext cx="214313" cy="171450"/>
          </a:xfrm>
          <a:prstGeom prst="rect">
            <a:avLst/>
          </a:prstGeom>
        </p:spPr>
      </p:pic>
      <p:sp>
        <p:nvSpPr>
          <p:cNvPr id="9" name="Text 4"/>
          <p:cNvSpPr/>
          <p:nvPr/>
        </p:nvSpPr>
        <p:spPr>
          <a:xfrm>
            <a:off x="900113" y="1675209"/>
            <a:ext cx="1884164"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Yangi foydalanuvchilar</a:t>
            </a:r>
            <a:endParaRPr lang="en-US" sz="1250" dirty="0"/>
          </a:p>
        </p:txBody>
      </p:sp>
      <p:sp>
        <p:nvSpPr>
          <p:cNvPr id="10" name="Text 5"/>
          <p:cNvSpPr/>
          <p:nvPr/>
        </p:nvSpPr>
        <p:spPr>
          <a:xfrm>
            <a:off x="614363" y="1964531"/>
            <a:ext cx="3707606"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Non-RTE kategoriyasini hali sinab ko'rmaganlar.</a:t>
            </a:r>
            <a:endParaRPr lang="en-US" sz="950" dirty="0"/>
          </a:p>
        </p:txBody>
      </p:sp>
      <p:sp>
        <p:nvSpPr>
          <p:cNvPr id="11" name="Text 6"/>
          <p:cNvSpPr/>
          <p:nvPr/>
        </p:nvSpPr>
        <p:spPr>
          <a:xfrm>
            <a:off x="614363" y="2251704"/>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Katta chegirma bilan birinchi sinov</a:t>
            </a:r>
            <a:endParaRPr lang="en-US" sz="850" dirty="0"/>
          </a:p>
        </p:txBody>
      </p:sp>
      <p:sp>
        <p:nvSpPr>
          <p:cNvPr id="12" name="Text 7"/>
          <p:cNvSpPr/>
          <p:nvPr/>
        </p:nvSpPr>
        <p:spPr>
          <a:xfrm>
            <a:off x="614363" y="2424940"/>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Kategoriya afzalliklarini tushuntirish</a:t>
            </a:r>
            <a:endParaRPr lang="en-US" sz="850" dirty="0"/>
          </a:p>
        </p:txBody>
      </p:sp>
      <p:sp>
        <p:nvSpPr>
          <p:cNvPr id="13" name="Shape 8"/>
          <p:cNvSpPr/>
          <p:nvPr/>
        </p:nvSpPr>
        <p:spPr>
          <a:xfrm>
            <a:off x="4643438" y="1532334"/>
            <a:ext cx="4064794" cy="1730573"/>
          </a:xfrm>
          <a:prstGeom prst="rect">
            <a:avLst/>
          </a:prstGeom>
          <a:solidFill>
            <a:srgbClr val="E6E6FA"/>
          </a:solidFill>
          <a:ln w="9144">
            <a:solidFill>
              <a:srgbClr val="9370DB"/>
            </a:solidFill>
            <a:prstDash val="dash"/>
          </a:ln>
        </p:spPr>
      </p:sp>
      <p:sp>
        <p:nvSpPr>
          <p:cNvPr id="14" name="Shape 9"/>
          <p:cNvSpPr/>
          <p:nvPr/>
        </p:nvSpPr>
        <p:spPr>
          <a:xfrm>
            <a:off x="8247459" y="1532334"/>
            <a:ext cx="460772" cy="166092"/>
          </a:xfrm>
          <a:prstGeom prst="rect">
            <a:avLst/>
          </a:prstGeom>
          <a:solidFill>
            <a:srgbClr val="4B0082"/>
          </a:solidFill>
          <a:ln/>
        </p:spPr>
      </p:sp>
      <p:sp>
        <p:nvSpPr>
          <p:cNvPr id="15" name="Text 10"/>
          <p:cNvSpPr/>
          <p:nvPr/>
        </p:nvSpPr>
        <p:spPr>
          <a:xfrm>
            <a:off x="8247459" y="1532334"/>
            <a:ext cx="460772" cy="166092"/>
          </a:xfrm>
          <a:prstGeom prst="rect">
            <a:avLst/>
          </a:prstGeom>
          <a:noFill/>
          <a:ln/>
        </p:spPr>
        <p:txBody>
          <a:bodyPr wrap="none" lIns="85090" tIns="34036" rIns="85090" bIns="34036" rtlCol="0" anchor="t">
            <a:spAutoFit/>
          </a:bodyPr>
          <a:lstStyle/>
          <a:p>
            <a:pPr algn="l" indent="0" marL="0">
              <a:buNone/>
            </a:pPr>
            <a:r>
              <a:rPr lang="en-US" sz="600" dirty="0">
                <a:solidFill>
                  <a:srgbClr val="FFFFFF"/>
                </a:solidFill>
                <a:latin typeface="Space Grotesk Medium" pitchFamily="34" charset="0"/>
                <a:ea typeface="Space Grotesk Medium" pitchFamily="34" charset="-122"/>
                <a:cs typeface="Space Grotesk Medium" pitchFamily="34" charset="-120"/>
              </a:rPr>
              <a:t>SEG_02</a:t>
            </a:r>
            <a:endParaRPr lang="en-US" sz="600" dirty="0"/>
          </a:p>
        </p:txBody>
      </p:sp>
      <p:pic>
        <p:nvPicPr>
          <p:cNvPr id="16" name="Image 2" descr="preencoded.png">    </p:cNvPr>
          <p:cNvPicPr>
            <a:picLocks noChangeAspect="1"/>
          </p:cNvPicPr>
          <p:nvPr/>
        </p:nvPicPr>
        <p:blipFill>
          <a:blip r:embed="rId3"/>
          <a:stretch>
            <a:fillRect/>
          </a:stretch>
        </p:blipFill>
        <p:spPr>
          <a:xfrm>
            <a:off x="4822031" y="1698427"/>
            <a:ext cx="107156" cy="171450"/>
          </a:xfrm>
          <a:prstGeom prst="rect">
            <a:avLst/>
          </a:prstGeom>
        </p:spPr>
      </p:pic>
      <p:sp>
        <p:nvSpPr>
          <p:cNvPr id="17" name="Text 11"/>
          <p:cNvSpPr/>
          <p:nvPr/>
        </p:nvSpPr>
        <p:spPr>
          <a:xfrm>
            <a:off x="5000625" y="1675209"/>
            <a:ext cx="1771650"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Bir marta ishlatganlar</a:t>
            </a:r>
            <a:endParaRPr lang="en-US" sz="1250" dirty="0"/>
          </a:p>
        </p:txBody>
      </p:sp>
      <p:sp>
        <p:nvSpPr>
          <p:cNvPr id="18" name="Text 12"/>
          <p:cNvSpPr/>
          <p:nvPr/>
        </p:nvSpPr>
        <p:spPr>
          <a:xfrm>
            <a:off x="4822031" y="1964531"/>
            <a:ext cx="3707606"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Bir marta buyurtma bergan, lekin qaytmaganlar.</a:t>
            </a:r>
            <a:endParaRPr lang="en-US" sz="950" dirty="0"/>
          </a:p>
        </p:txBody>
      </p:sp>
      <p:sp>
        <p:nvSpPr>
          <p:cNvPr id="19" name="Text 13"/>
          <p:cNvSpPr/>
          <p:nvPr/>
        </p:nvSpPr>
        <p:spPr>
          <a:xfrm>
            <a:off x="4822031" y="2251704"/>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Retention (qayta jalb qilish) takliflari</a:t>
            </a:r>
            <a:endParaRPr lang="en-US" sz="850" dirty="0"/>
          </a:p>
        </p:txBody>
      </p:sp>
      <p:sp>
        <p:nvSpPr>
          <p:cNvPr id="20" name="Text 14"/>
          <p:cNvSpPr/>
          <p:nvPr/>
        </p:nvSpPr>
        <p:spPr>
          <a:xfrm>
            <a:off x="4822031" y="2424940"/>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O'xshash mahsulotlar tavsiyasi</a:t>
            </a:r>
            <a:endParaRPr lang="en-US" sz="850" dirty="0"/>
          </a:p>
        </p:txBody>
      </p:sp>
      <p:sp>
        <p:nvSpPr>
          <p:cNvPr id="21" name="Shape 15"/>
          <p:cNvSpPr/>
          <p:nvPr/>
        </p:nvSpPr>
        <p:spPr>
          <a:xfrm>
            <a:off x="435769" y="3405783"/>
            <a:ext cx="4064794" cy="1730573"/>
          </a:xfrm>
          <a:prstGeom prst="rect">
            <a:avLst/>
          </a:prstGeom>
          <a:solidFill>
            <a:srgbClr val="E6E6FA"/>
          </a:solidFill>
          <a:ln w="9144">
            <a:solidFill>
              <a:srgbClr val="9370DB"/>
            </a:solidFill>
            <a:prstDash val="dash"/>
          </a:ln>
        </p:spPr>
      </p:sp>
      <p:sp>
        <p:nvSpPr>
          <p:cNvPr id="22" name="Shape 16"/>
          <p:cNvSpPr/>
          <p:nvPr/>
        </p:nvSpPr>
        <p:spPr>
          <a:xfrm>
            <a:off x="4039791" y="3405783"/>
            <a:ext cx="460772" cy="166092"/>
          </a:xfrm>
          <a:prstGeom prst="rect">
            <a:avLst/>
          </a:prstGeom>
          <a:solidFill>
            <a:srgbClr val="4B0082"/>
          </a:solidFill>
          <a:ln/>
        </p:spPr>
      </p:sp>
      <p:sp>
        <p:nvSpPr>
          <p:cNvPr id="23" name="Text 17"/>
          <p:cNvSpPr/>
          <p:nvPr/>
        </p:nvSpPr>
        <p:spPr>
          <a:xfrm>
            <a:off x="4039791" y="3405783"/>
            <a:ext cx="460772" cy="166092"/>
          </a:xfrm>
          <a:prstGeom prst="rect">
            <a:avLst/>
          </a:prstGeom>
          <a:noFill/>
          <a:ln/>
        </p:spPr>
        <p:txBody>
          <a:bodyPr wrap="none" lIns="85090" tIns="34036" rIns="85090" bIns="34036" rtlCol="0" anchor="t">
            <a:spAutoFit/>
          </a:bodyPr>
          <a:lstStyle/>
          <a:p>
            <a:pPr algn="l" indent="0" marL="0">
              <a:buNone/>
            </a:pPr>
            <a:r>
              <a:rPr lang="en-US" sz="600" dirty="0">
                <a:solidFill>
                  <a:srgbClr val="FFFFFF"/>
                </a:solidFill>
                <a:latin typeface="Space Grotesk Medium" pitchFamily="34" charset="0"/>
                <a:ea typeface="Space Grotesk Medium" pitchFamily="34" charset="-122"/>
                <a:cs typeface="Space Grotesk Medium" pitchFamily="34" charset="-120"/>
              </a:rPr>
              <a:t>SEG_03</a:t>
            </a:r>
            <a:endParaRPr lang="en-US" sz="600" dirty="0"/>
          </a:p>
        </p:txBody>
      </p:sp>
      <p:pic>
        <p:nvPicPr>
          <p:cNvPr id="24" name="Image 3" descr="preencoded.png">    </p:cNvPr>
          <p:cNvPicPr>
            <a:picLocks noChangeAspect="1"/>
          </p:cNvPicPr>
          <p:nvPr/>
        </p:nvPicPr>
        <p:blipFill>
          <a:blip r:embed="rId4"/>
          <a:stretch>
            <a:fillRect/>
          </a:stretch>
        </p:blipFill>
        <p:spPr>
          <a:xfrm>
            <a:off x="614363" y="3571875"/>
            <a:ext cx="192881" cy="171450"/>
          </a:xfrm>
          <a:prstGeom prst="rect">
            <a:avLst/>
          </a:prstGeom>
        </p:spPr>
      </p:pic>
      <p:sp>
        <p:nvSpPr>
          <p:cNvPr id="25" name="Text 18"/>
          <p:cNvSpPr/>
          <p:nvPr/>
        </p:nvSpPr>
        <p:spPr>
          <a:xfrm>
            <a:off x="878681" y="3548658"/>
            <a:ext cx="1773436"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Faol foydalanuvchilar</a:t>
            </a:r>
            <a:endParaRPr lang="en-US" sz="1250" dirty="0"/>
          </a:p>
        </p:txBody>
      </p:sp>
      <p:sp>
        <p:nvSpPr>
          <p:cNvPr id="26" name="Text 19"/>
          <p:cNvSpPr/>
          <p:nvPr/>
        </p:nvSpPr>
        <p:spPr>
          <a:xfrm>
            <a:off x="614363" y="3837980"/>
            <a:ext cx="3707606"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Doimiy ravishda turli kategoriyalardan foydalanuvchilar.</a:t>
            </a:r>
            <a:endParaRPr lang="en-US" sz="950" dirty="0"/>
          </a:p>
        </p:txBody>
      </p:sp>
      <p:sp>
        <p:nvSpPr>
          <p:cNvPr id="27" name="Text 20"/>
          <p:cNvSpPr/>
          <p:nvPr/>
        </p:nvSpPr>
        <p:spPr>
          <a:xfrm>
            <a:off x="614363" y="4125153"/>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Cross-sell va sodiqlik bonuslari</a:t>
            </a:r>
            <a:endParaRPr lang="en-US" sz="850" dirty="0"/>
          </a:p>
        </p:txBody>
      </p:sp>
      <p:sp>
        <p:nvSpPr>
          <p:cNvPr id="28" name="Text 21"/>
          <p:cNvSpPr/>
          <p:nvPr/>
        </p:nvSpPr>
        <p:spPr>
          <a:xfrm>
            <a:off x="614363" y="4298389"/>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Eksklyuziv "early access" takliflar</a:t>
            </a:r>
            <a:endParaRPr lang="en-US" sz="850" dirty="0"/>
          </a:p>
        </p:txBody>
      </p:sp>
      <p:sp>
        <p:nvSpPr>
          <p:cNvPr id="29" name="Shape 22"/>
          <p:cNvSpPr/>
          <p:nvPr/>
        </p:nvSpPr>
        <p:spPr>
          <a:xfrm>
            <a:off x="4643438" y="3405783"/>
            <a:ext cx="4064794" cy="1730573"/>
          </a:xfrm>
          <a:prstGeom prst="rect">
            <a:avLst/>
          </a:prstGeom>
          <a:solidFill>
            <a:srgbClr val="E6E6FA"/>
          </a:solidFill>
          <a:ln w="9144">
            <a:solidFill>
              <a:srgbClr val="9370DB"/>
            </a:solidFill>
            <a:prstDash val="dash"/>
          </a:ln>
        </p:spPr>
      </p:sp>
      <p:sp>
        <p:nvSpPr>
          <p:cNvPr id="30" name="Shape 23"/>
          <p:cNvSpPr/>
          <p:nvPr/>
        </p:nvSpPr>
        <p:spPr>
          <a:xfrm>
            <a:off x="8245673" y="3405783"/>
            <a:ext cx="462558" cy="166092"/>
          </a:xfrm>
          <a:prstGeom prst="rect">
            <a:avLst/>
          </a:prstGeom>
          <a:solidFill>
            <a:srgbClr val="4B0082"/>
          </a:solidFill>
          <a:ln/>
        </p:spPr>
      </p:sp>
      <p:sp>
        <p:nvSpPr>
          <p:cNvPr id="31" name="Text 24"/>
          <p:cNvSpPr/>
          <p:nvPr/>
        </p:nvSpPr>
        <p:spPr>
          <a:xfrm>
            <a:off x="8245673" y="3405783"/>
            <a:ext cx="462558" cy="166092"/>
          </a:xfrm>
          <a:prstGeom prst="rect">
            <a:avLst/>
          </a:prstGeom>
          <a:noFill/>
          <a:ln/>
        </p:spPr>
        <p:txBody>
          <a:bodyPr wrap="none" lIns="85090" tIns="34036" rIns="85090" bIns="34036" rtlCol="0" anchor="t">
            <a:spAutoFit/>
          </a:bodyPr>
          <a:lstStyle/>
          <a:p>
            <a:pPr algn="l" indent="0" marL="0">
              <a:buNone/>
            </a:pPr>
            <a:r>
              <a:rPr lang="en-US" sz="600" dirty="0">
                <a:solidFill>
                  <a:srgbClr val="FFFFFF"/>
                </a:solidFill>
                <a:latin typeface="Space Grotesk Medium" pitchFamily="34" charset="0"/>
                <a:ea typeface="Space Grotesk Medium" pitchFamily="34" charset="-122"/>
                <a:cs typeface="Space Grotesk Medium" pitchFamily="34" charset="-120"/>
              </a:rPr>
              <a:t>SEG_04</a:t>
            </a:r>
            <a:endParaRPr lang="en-US" sz="600" dirty="0"/>
          </a:p>
        </p:txBody>
      </p:sp>
      <p:pic>
        <p:nvPicPr>
          <p:cNvPr id="32" name="Image 4" descr="preencoded.png">    </p:cNvPr>
          <p:cNvPicPr>
            <a:picLocks noChangeAspect="1"/>
          </p:cNvPicPr>
          <p:nvPr/>
        </p:nvPicPr>
        <p:blipFill>
          <a:blip r:embed="rId5"/>
          <a:stretch>
            <a:fillRect/>
          </a:stretch>
        </p:blipFill>
        <p:spPr>
          <a:xfrm>
            <a:off x="4822031" y="3571875"/>
            <a:ext cx="214313" cy="171450"/>
          </a:xfrm>
          <a:prstGeom prst="rect">
            <a:avLst/>
          </a:prstGeom>
        </p:spPr>
      </p:pic>
      <p:sp>
        <p:nvSpPr>
          <p:cNvPr id="33" name="Text 25"/>
          <p:cNvSpPr/>
          <p:nvPr/>
        </p:nvSpPr>
        <p:spPr>
          <a:xfrm>
            <a:off x="5107781" y="3548658"/>
            <a:ext cx="1493044" cy="217884"/>
          </a:xfrm>
          <a:prstGeom prst="rect">
            <a:avLst/>
          </a:prstGeom>
          <a:noFill/>
          <a:ln/>
        </p:spPr>
        <p:txBody>
          <a:bodyPr wrap="square" lIns="0" tIns="0" rIns="0" bIns="0" rtlCol="0" anchor="t">
            <a:spAutoFit/>
          </a:bodyPr>
          <a:lstStyle/>
          <a:p>
            <a:pPr algn="l" indent="0" marL="0">
              <a:buNone/>
            </a:pPr>
            <a:r>
              <a:rPr lang="en-US" sz="1250" dirty="0">
                <a:solidFill>
                  <a:srgbClr val="4B0082"/>
                </a:solidFill>
                <a:latin typeface="Space Grotesk Medium" pitchFamily="34" charset="0"/>
                <a:ea typeface="Space Grotesk Medium" pitchFamily="34" charset="-122"/>
                <a:cs typeface="Space Grotesk Medium" pitchFamily="34" charset="-120"/>
              </a:rPr>
              <a:t>Ketish xavfi borlar</a:t>
            </a:r>
            <a:endParaRPr lang="en-US" sz="1250" dirty="0"/>
          </a:p>
        </p:txBody>
      </p:sp>
      <p:sp>
        <p:nvSpPr>
          <p:cNvPr id="34" name="Text 26"/>
          <p:cNvSpPr/>
          <p:nvPr/>
        </p:nvSpPr>
        <p:spPr>
          <a:xfrm>
            <a:off x="4822031" y="3837980"/>
            <a:ext cx="3707606"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Ilovadan foydalanish faolligi kamayganlar.</a:t>
            </a:r>
            <a:endParaRPr lang="en-US" sz="950" dirty="0"/>
          </a:p>
        </p:txBody>
      </p:sp>
      <p:sp>
        <p:nvSpPr>
          <p:cNvPr id="35" name="Text 27"/>
          <p:cNvSpPr/>
          <p:nvPr/>
        </p:nvSpPr>
        <p:spPr>
          <a:xfrm>
            <a:off x="4822031" y="4125153"/>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Maxsus "win-back" aksiyalari</a:t>
            </a:r>
            <a:endParaRPr lang="en-US" sz="850" dirty="0"/>
          </a:p>
        </p:txBody>
      </p:sp>
      <p:sp>
        <p:nvSpPr>
          <p:cNvPr id="36" name="Text 28"/>
          <p:cNvSpPr/>
          <p:nvPr/>
        </p:nvSpPr>
        <p:spPr>
          <a:xfrm>
            <a:off x="4822031" y="4298389"/>
            <a:ext cx="3707606" cy="137517"/>
          </a:xfrm>
          <a:prstGeom prst="rect">
            <a:avLst/>
          </a:prstGeom>
          <a:noFill/>
          <a:ln/>
        </p:spPr>
        <p:txBody>
          <a:bodyPr wrap="square" lIns="0" tIns="0" rIns="0" bIns="0" rtlCol="0" anchor="t">
            <a:spAutoFit/>
          </a:bodyPr>
          <a:lstStyle/>
          <a:p>
            <a:pPr algn="l" indent="0" marL="0">
              <a:buNone/>
            </a:pPr>
            <a:r>
              <a:rPr lang="en-US" sz="850" dirty="0">
                <a:solidFill>
                  <a:srgbClr val="333333"/>
                </a:solidFill>
                <a:latin typeface="Inter" pitchFamily="34" charset="0"/>
                <a:ea typeface="Inter" pitchFamily="34" charset="-122"/>
                <a:cs typeface="Inter" pitchFamily="34" charset="-120"/>
              </a:rPr>
              <a:t>Yuqori qiymatli shaxsiy kuponlar</a:t>
            </a:r>
            <a:endParaRPr lang="en-US" sz="850" dirty="0"/>
          </a:p>
        </p:txBody>
      </p:sp>
      <p:sp>
        <p:nvSpPr>
          <p:cNvPr id="37" name="Text 29"/>
          <p:cNvSpPr/>
          <p:nvPr/>
        </p:nvSpPr>
        <p:spPr>
          <a:xfrm>
            <a:off x="7697391" y="4884539"/>
            <a:ext cx="1296591"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SLIDE_06 // REWARD_STRATEGY</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5286"/>
          </a:xfrm>
          <a:prstGeom prst="rect">
            <a:avLst/>
          </a:prstGeom>
        </p:spPr>
      </p:pic>
      <p:sp>
        <p:nvSpPr>
          <p:cNvPr id="4" name="Text 0"/>
          <p:cNvSpPr/>
          <p:nvPr/>
        </p:nvSpPr>
        <p:spPr>
          <a:xfrm>
            <a:off x="435769" y="292894"/>
            <a:ext cx="8272463"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MVP Arxitekturasi: Big Data tayyor</a:t>
            </a:r>
            <a:endParaRPr lang="en-US" sz="2450" dirty="0"/>
          </a:p>
        </p:txBody>
      </p:sp>
      <p:sp>
        <p:nvSpPr>
          <p:cNvPr id="5" name="Text 1"/>
          <p:cNvSpPr/>
          <p:nvPr/>
        </p:nvSpPr>
        <p:spPr>
          <a:xfrm rot="-5400000">
            <a:off x="86618" y="1601986"/>
            <a:ext cx="428625" cy="126802"/>
          </a:xfrm>
          <a:prstGeom prst="rect">
            <a:avLst/>
          </a:prstGeom>
          <a:noFill/>
          <a:ln/>
        </p:spPr>
        <p:txBody>
          <a:bodyPr wrap="none" lIns="0" tIns="0" rIns="0" bIns="0" rtlCol="0" anchor="t">
            <a:spAutoFit/>
          </a:bodyPr>
          <a:lstStyle/>
          <a:p>
            <a:pPr algn="l" indent="0" marL="0">
              <a:buNone/>
            </a:pPr>
            <a:r>
              <a:rPr lang="en-US" sz="750" spc="2" kern="0" dirty="0">
                <a:solidFill>
                  <a:srgbClr val="9370DB"/>
                </a:solidFill>
                <a:latin typeface="Space Grotesk Medium" pitchFamily="34" charset="0"/>
                <a:ea typeface="Space Grotesk Medium" pitchFamily="34" charset="-122"/>
                <a:cs typeface="Space Grotesk Medium" pitchFamily="34" charset="-120"/>
              </a:rPr>
              <a:t>ACTION</a:t>
            </a:r>
            <a:endParaRPr lang="en-US" sz="750" dirty="0"/>
          </a:p>
        </p:txBody>
      </p:sp>
      <p:sp>
        <p:nvSpPr>
          <p:cNvPr id="6" name="Shape 2"/>
          <p:cNvSpPr/>
          <p:nvPr/>
        </p:nvSpPr>
        <p:spPr>
          <a:xfrm>
            <a:off x="435769" y="1237655"/>
            <a:ext cx="2014538" cy="728663"/>
          </a:xfrm>
          <a:prstGeom prst="rect">
            <a:avLst/>
          </a:prstGeom>
          <a:solidFill>
            <a:srgbClr val="E6E6FA"/>
          </a:solidFill>
          <a:ln w="9144">
            <a:solidFill>
              <a:srgbClr val="4B0082"/>
            </a:solidFill>
            <a:prstDash val="dash"/>
          </a:ln>
        </p:spPr>
      </p:sp>
      <p:sp>
        <p:nvSpPr>
          <p:cNvPr id="7" name="Text 3"/>
          <p:cNvSpPr/>
          <p:nvPr/>
        </p:nvSpPr>
        <p:spPr>
          <a:xfrm>
            <a:off x="865287" y="1452860"/>
            <a:ext cx="1141214"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CRM / Push Engine</a:t>
            </a:r>
            <a:endParaRPr lang="en-US" sz="950" dirty="0"/>
          </a:p>
        </p:txBody>
      </p:sp>
      <p:sp>
        <p:nvSpPr>
          <p:cNvPr id="8" name="Text 4"/>
          <p:cNvSpPr/>
          <p:nvPr/>
        </p:nvSpPr>
        <p:spPr>
          <a:xfrm>
            <a:off x="1073348" y="1645741"/>
            <a:ext cx="725091" cy="105370"/>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Real-time triggers</a:t>
            </a:r>
            <a:endParaRPr lang="en-US" sz="600" dirty="0"/>
          </a:p>
        </p:txBody>
      </p:sp>
      <p:sp>
        <p:nvSpPr>
          <p:cNvPr id="9" name="Shape 5"/>
          <p:cNvSpPr/>
          <p:nvPr/>
        </p:nvSpPr>
        <p:spPr>
          <a:xfrm>
            <a:off x="3557588" y="1237655"/>
            <a:ext cx="2014538" cy="728663"/>
          </a:xfrm>
          <a:prstGeom prst="rect">
            <a:avLst/>
          </a:prstGeom>
          <a:solidFill>
            <a:srgbClr val="E6E6FA"/>
          </a:solidFill>
          <a:ln w="9144">
            <a:solidFill>
              <a:srgbClr val="4B0082"/>
            </a:solidFill>
            <a:prstDash val="dash"/>
          </a:ln>
        </p:spPr>
      </p:sp>
      <p:sp>
        <p:nvSpPr>
          <p:cNvPr id="10" name="Text 6"/>
          <p:cNvSpPr/>
          <p:nvPr/>
        </p:nvSpPr>
        <p:spPr>
          <a:xfrm>
            <a:off x="4283571" y="1452860"/>
            <a:ext cx="562570"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In-App UI</a:t>
            </a:r>
            <a:endParaRPr lang="en-US" sz="950" dirty="0"/>
          </a:p>
        </p:txBody>
      </p:sp>
      <p:sp>
        <p:nvSpPr>
          <p:cNvPr id="11" name="Text 7"/>
          <p:cNvSpPr/>
          <p:nvPr/>
        </p:nvSpPr>
        <p:spPr>
          <a:xfrm>
            <a:off x="4154984" y="1645741"/>
            <a:ext cx="819745" cy="105370"/>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Mini-game interface</a:t>
            </a:r>
            <a:endParaRPr lang="en-US" sz="600" dirty="0"/>
          </a:p>
        </p:txBody>
      </p:sp>
      <p:sp>
        <p:nvSpPr>
          <p:cNvPr id="12" name="Shape 8"/>
          <p:cNvSpPr/>
          <p:nvPr/>
        </p:nvSpPr>
        <p:spPr>
          <a:xfrm>
            <a:off x="6693694" y="1237655"/>
            <a:ext cx="2014538" cy="728663"/>
          </a:xfrm>
          <a:prstGeom prst="rect">
            <a:avLst/>
          </a:prstGeom>
          <a:solidFill>
            <a:srgbClr val="E6E6FA"/>
          </a:solidFill>
          <a:ln w="9144">
            <a:solidFill>
              <a:srgbClr val="4B0082"/>
            </a:solidFill>
            <a:prstDash val="dash"/>
          </a:ln>
        </p:spPr>
      </p:sp>
      <p:sp>
        <p:nvSpPr>
          <p:cNvPr id="13" name="Text 9"/>
          <p:cNvSpPr/>
          <p:nvPr/>
        </p:nvSpPr>
        <p:spPr>
          <a:xfrm>
            <a:off x="7266980" y="1445716"/>
            <a:ext cx="882253"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Promo Service</a:t>
            </a:r>
            <a:endParaRPr lang="en-US" sz="950" dirty="0"/>
          </a:p>
        </p:txBody>
      </p:sp>
      <p:sp>
        <p:nvSpPr>
          <p:cNvPr id="14" name="Text 10"/>
          <p:cNvSpPr/>
          <p:nvPr/>
        </p:nvSpPr>
        <p:spPr>
          <a:xfrm>
            <a:off x="7278588" y="1638598"/>
            <a:ext cx="859036" cy="105370"/>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Dynamic coupon gen</a:t>
            </a:r>
            <a:endParaRPr lang="en-US" sz="600" dirty="0"/>
          </a:p>
        </p:txBody>
      </p:sp>
      <p:sp>
        <p:nvSpPr>
          <p:cNvPr id="15" name="Text 11"/>
          <p:cNvSpPr/>
          <p:nvPr/>
        </p:nvSpPr>
        <p:spPr>
          <a:xfrm rot="-5400000">
            <a:off x="86618" y="3173611"/>
            <a:ext cx="532209" cy="126802"/>
          </a:xfrm>
          <a:prstGeom prst="rect">
            <a:avLst/>
          </a:prstGeom>
          <a:noFill/>
          <a:ln/>
        </p:spPr>
        <p:txBody>
          <a:bodyPr wrap="none" lIns="0" tIns="0" rIns="0" bIns="0" rtlCol="0" anchor="t">
            <a:spAutoFit/>
          </a:bodyPr>
          <a:lstStyle/>
          <a:p>
            <a:pPr algn="l" indent="0" marL="0">
              <a:buNone/>
            </a:pPr>
            <a:r>
              <a:rPr lang="en-US" sz="750" spc="2" kern="0" dirty="0">
                <a:solidFill>
                  <a:srgbClr val="9370DB"/>
                </a:solidFill>
                <a:latin typeface="Space Grotesk Medium" pitchFamily="34" charset="0"/>
                <a:ea typeface="Space Grotesk Medium" pitchFamily="34" charset="-122"/>
                <a:cs typeface="Space Grotesk Medium" pitchFamily="34" charset="-120"/>
              </a:rPr>
              <a:t>PROCESS</a:t>
            </a:r>
            <a:endParaRPr lang="en-US" sz="750" dirty="0"/>
          </a:p>
        </p:txBody>
      </p:sp>
      <p:sp>
        <p:nvSpPr>
          <p:cNvPr id="16" name="Shape 12"/>
          <p:cNvSpPr/>
          <p:nvPr/>
        </p:nvSpPr>
        <p:spPr>
          <a:xfrm>
            <a:off x="435769" y="2809280"/>
            <a:ext cx="3228975" cy="728663"/>
          </a:xfrm>
          <a:prstGeom prst="rect">
            <a:avLst/>
          </a:prstGeom>
          <a:solidFill>
            <a:srgbClr val="FFFFFF"/>
          </a:solidFill>
          <a:ln w="9144">
            <a:solidFill>
              <a:srgbClr val="4B0082"/>
            </a:solidFill>
            <a:prstDash val="solid"/>
          </a:ln>
        </p:spPr>
      </p:sp>
      <p:sp>
        <p:nvSpPr>
          <p:cNvPr id="17" name="Text 13"/>
          <p:cNvSpPr/>
          <p:nvPr/>
        </p:nvSpPr>
        <p:spPr>
          <a:xfrm>
            <a:off x="1378744" y="3024485"/>
            <a:ext cx="1328738" cy="164306"/>
          </a:xfrm>
          <a:prstGeom prst="rect">
            <a:avLst/>
          </a:prstGeom>
          <a:noFill/>
          <a:ln/>
        </p:spPr>
        <p:txBody>
          <a:bodyPr wrap="squar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ML Scoring &amp; Ranking</a:t>
            </a:r>
            <a:endParaRPr lang="en-US" sz="950" dirty="0"/>
          </a:p>
        </p:txBody>
      </p:sp>
      <p:sp>
        <p:nvSpPr>
          <p:cNvPr id="18" name="Text 14"/>
          <p:cNvSpPr/>
          <p:nvPr/>
        </p:nvSpPr>
        <p:spPr>
          <a:xfrm>
            <a:off x="1354634" y="3217366"/>
            <a:ext cx="1376958" cy="105370"/>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Next Best Offer Model (Real-time)</a:t>
            </a:r>
            <a:endParaRPr lang="en-US" sz="600" dirty="0"/>
          </a:p>
        </p:txBody>
      </p:sp>
      <p:sp>
        <p:nvSpPr>
          <p:cNvPr id="19" name="Shape 15"/>
          <p:cNvSpPr/>
          <p:nvPr/>
        </p:nvSpPr>
        <p:spPr>
          <a:xfrm>
            <a:off x="5479256" y="2809280"/>
            <a:ext cx="3228975" cy="728663"/>
          </a:xfrm>
          <a:prstGeom prst="rect">
            <a:avLst/>
          </a:prstGeom>
          <a:solidFill>
            <a:srgbClr val="FFFFFF"/>
          </a:solidFill>
          <a:ln w="9144">
            <a:solidFill>
              <a:srgbClr val="4B0082"/>
            </a:solidFill>
            <a:prstDash val="solid"/>
          </a:ln>
        </p:spPr>
      </p:sp>
      <p:sp>
        <p:nvSpPr>
          <p:cNvPr id="20" name="Text 16"/>
          <p:cNvSpPr/>
          <p:nvPr/>
        </p:nvSpPr>
        <p:spPr>
          <a:xfrm>
            <a:off x="6677620" y="3017341"/>
            <a:ext cx="846534"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Feature Store</a:t>
            </a:r>
            <a:endParaRPr lang="en-US" sz="950" dirty="0"/>
          </a:p>
        </p:txBody>
      </p:sp>
      <p:sp>
        <p:nvSpPr>
          <p:cNvPr id="21" name="Text 17"/>
          <p:cNvSpPr/>
          <p:nvPr/>
        </p:nvSpPr>
        <p:spPr>
          <a:xfrm>
            <a:off x="6448127" y="3210223"/>
            <a:ext cx="1305520" cy="105370"/>
          </a:xfrm>
          <a:prstGeom prst="rect">
            <a:avLst/>
          </a:prstGeom>
          <a:noFill/>
          <a:ln/>
        </p:spPr>
        <p:txBody>
          <a:bodyPr wrap="squar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User profiles &amp; Category affinity</a:t>
            </a:r>
            <a:endParaRPr lang="en-US" sz="600" dirty="0"/>
          </a:p>
        </p:txBody>
      </p:sp>
      <p:sp>
        <p:nvSpPr>
          <p:cNvPr id="22" name="Text 18"/>
          <p:cNvSpPr/>
          <p:nvPr/>
        </p:nvSpPr>
        <p:spPr>
          <a:xfrm rot="-5400000">
            <a:off x="86618" y="4745236"/>
            <a:ext cx="292894" cy="126802"/>
          </a:xfrm>
          <a:prstGeom prst="rect">
            <a:avLst/>
          </a:prstGeom>
          <a:noFill/>
          <a:ln/>
        </p:spPr>
        <p:txBody>
          <a:bodyPr wrap="none" lIns="0" tIns="0" rIns="0" bIns="0" rtlCol="0" anchor="t">
            <a:spAutoFit/>
          </a:bodyPr>
          <a:lstStyle/>
          <a:p>
            <a:pPr algn="l" indent="0" marL="0">
              <a:buNone/>
            </a:pPr>
            <a:r>
              <a:rPr lang="en-US" sz="750" spc="2" kern="0" dirty="0">
                <a:solidFill>
                  <a:srgbClr val="9370DB"/>
                </a:solidFill>
                <a:latin typeface="Space Grotesk Medium" pitchFamily="34" charset="0"/>
                <a:ea typeface="Space Grotesk Medium" pitchFamily="34" charset="-122"/>
                <a:cs typeface="Space Grotesk Medium" pitchFamily="34" charset="-120"/>
              </a:rPr>
              <a:t>DATA</a:t>
            </a:r>
            <a:endParaRPr lang="en-US" sz="750" dirty="0"/>
          </a:p>
        </p:txBody>
      </p:sp>
      <p:sp>
        <p:nvSpPr>
          <p:cNvPr id="23" name="Shape 19"/>
          <p:cNvSpPr/>
          <p:nvPr/>
        </p:nvSpPr>
        <p:spPr>
          <a:xfrm>
            <a:off x="435769" y="4380905"/>
            <a:ext cx="2014538" cy="728663"/>
          </a:xfrm>
          <a:prstGeom prst="rect">
            <a:avLst/>
          </a:prstGeom>
          <a:solidFill>
            <a:srgbClr val="E6E6FA"/>
          </a:solidFill>
          <a:ln w="9144">
            <a:solidFill>
              <a:srgbClr val="4B0082"/>
            </a:solidFill>
            <a:prstDash val="dash"/>
          </a:ln>
        </p:spPr>
      </p:sp>
      <p:sp>
        <p:nvSpPr>
          <p:cNvPr id="24" name="Text 20"/>
          <p:cNvSpPr/>
          <p:nvPr/>
        </p:nvSpPr>
        <p:spPr>
          <a:xfrm>
            <a:off x="1021556" y="4596110"/>
            <a:ext cx="828675"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Event Stream</a:t>
            </a:r>
            <a:endParaRPr lang="en-US" sz="950" dirty="0"/>
          </a:p>
        </p:txBody>
      </p:sp>
      <p:sp>
        <p:nvSpPr>
          <p:cNvPr id="25" name="Text 21"/>
          <p:cNvSpPr/>
          <p:nvPr/>
        </p:nvSpPr>
        <p:spPr>
          <a:xfrm>
            <a:off x="983159" y="4788991"/>
            <a:ext cx="905470" cy="105370"/>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Clickstream / Tracking</a:t>
            </a:r>
            <a:endParaRPr lang="en-US" sz="600" dirty="0"/>
          </a:p>
        </p:txBody>
      </p:sp>
      <p:sp>
        <p:nvSpPr>
          <p:cNvPr id="26" name="Shape 22"/>
          <p:cNvSpPr/>
          <p:nvPr/>
        </p:nvSpPr>
        <p:spPr>
          <a:xfrm>
            <a:off x="3557588" y="4380905"/>
            <a:ext cx="2014538" cy="728663"/>
          </a:xfrm>
          <a:prstGeom prst="rect">
            <a:avLst/>
          </a:prstGeom>
          <a:solidFill>
            <a:srgbClr val="E6E6FA"/>
          </a:solidFill>
          <a:ln w="9144">
            <a:solidFill>
              <a:srgbClr val="4B0082"/>
            </a:solidFill>
            <a:prstDash val="dash"/>
          </a:ln>
        </p:spPr>
      </p:sp>
      <p:sp>
        <p:nvSpPr>
          <p:cNvPr id="27" name="Text 23"/>
          <p:cNvSpPr/>
          <p:nvPr/>
        </p:nvSpPr>
        <p:spPr>
          <a:xfrm>
            <a:off x="4154984" y="4596110"/>
            <a:ext cx="819745"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Order History</a:t>
            </a:r>
            <a:endParaRPr lang="en-US" sz="950" dirty="0"/>
          </a:p>
        </p:txBody>
      </p:sp>
      <p:sp>
        <p:nvSpPr>
          <p:cNvPr id="28" name="Text 24"/>
          <p:cNvSpPr/>
          <p:nvPr/>
        </p:nvSpPr>
        <p:spPr>
          <a:xfrm>
            <a:off x="4221956" y="4788991"/>
            <a:ext cx="685800" cy="105370"/>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Transactional DB</a:t>
            </a:r>
            <a:endParaRPr lang="en-US" sz="600" dirty="0"/>
          </a:p>
        </p:txBody>
      </p:sp>
      <p:sp>
        <p:nvSpPr>
          <p:cNvPr id="29" name="Shape 25"/>
          <p:cNvSpPr/>
          <p:nvPr/>
        </p:nvSpPr>
        <p:spPr>
          <a:xfrm>
            <a:off x="6693694" y="4380905"/>
            <a:ext cx="2014538" cy="728663"/>
          </a:xfrm>
          <a:prstGeom prst="rect">
            <a:avLst/>
          </a:prstGeom>
          <a:solidFill>
            <a:srgbClr val="E6E6FA"/>
          </a:solidFill>
          <a:ln w="9144">
            <a:solidFill>
              <a:srgbClr val="4B0082"/>
            </a:solidFill>
            <a:prstDash val="dash"/>
          </a:ln>
        </p:spPr>
      </p:sp>
      <p:sp>
        <p:nvSpPr>
          <p:cNvPr id="30" name="Text 26"/>
          <p:cNvSpPr/>
          <p:nvPr/>
        </p:nvSpPr>
        <p:spPr>
          <a:xfrm>
            <a:off x="7202686" y="4588966"/>
            <a:ext cx="1010841" cy="164306"/>
          </a:xfrm>
          <a:prstGeom prst="rect">
            <a:avLst/>
          </a:prstGeom>
          <a:noFill/>
          <a:ln/>
        </p:spPr>
        <p:txBody>
          <a:bodyPr wrap="none" lIns="0" tIns="0" rIns="0" bIns="0" rtlCol="0" anchor="t">
            <a:spAutoFit/>
          </a:bodyPr>
          <a:lstStyle/>
          <a:p>
            <a:pPr algn="ctr" indent="0" marL="0">
              <a:buNone/>
            </a:pPr>
            <a:r>
              <a:rPr lang="en-US" sz="950" dirty="0">
                <a:solidFill>
                  <a:srgbClr val="4B0082"/>
                </a:solidFill>
                <a:latin typeface="Space Grotesk Medium" pitchFamily="34" charset="0"/>
                <a:ea typeface="Space Grotesk Medium" pitchFamily="34" charset="-122"/>
                <a:cs typeface="Space Grotesk Medium" pitchFamily="34" charset="-120"/>
              </a:rPr>
              <a:t>Product Catalog</a:t>
            </a:r>
            <a:endParaRPr lang="en-US" sz="950" dirty="0"/>
          </a:p>
        </p:txBody>
      </p:sp>
      <p:sp>
        <p:nvSpPr>
          <p:cNvPr id="31" name="Text 27"/>
          <p:cNvSpPr/>
          <p:nvPr/>
        </p:nvSpPr>
        <p:spPr>
          <a:xfrm>
            <a:off x="7322344" y="4781848"/>
            <a:ext cx="771525" cy="105370"/>
          </a:xfrm>
          <a:prstGeom prst="rect">
            <a:avLst/>
          </a:prstGeom>
          <a:noFill/>
          <a:ln/>
        </p:spPr>
        <p:txBody>
          <a:bodyPr wrap="none" lIns="0" tIns="0" rIns="0" bIns="0" rtlCol="0" anchor="t">
            <a:spAutoFit/>
          </a:bodyPr>
          <a:lstStyle/>
          <a:p>
            <a:pPr algn="ctr" indent="0" marL="0">
              <a:buNone/>
            </a:pPr>
            <a:r>
              <a:rPr lang="en-US" sz="600" dirty="0">
                <a:solidFill>
                  <a:srgbClr val="666666"/>
                </a:solidFill>
                <a:latin typeface="Inter" pitchFamily="34" charset="0"/>
                <a:ea typeface="Inter" pitchFamily="34" charset="-122"/>
                <a:cs typeface="Inter" pitchFamily="34" charset="-120"/>
              </a:rPr>
              <a:t>Non-RTE inventory</a:t>
            </a:r>
            <a:endParaRPr lang="en-US" sz="600" dirty="0"/>
          </a:p>
        </p:txBody>
      </p:sp>
      <p:sp>
        <p:nvSpPr>
          <p:cNvPr id="32" name="Text 28"/>
          <p:cNvSpPr/>
          <p:nvPr/>
        </p:nvSpPr>
        <p:spPr>
          <a:xfrm>
            <a:off x="7527727" y="4884539"/>
            <a:ext cx="1466255"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SLIDE_07 // SYSTEM_ARCHITECTURE</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292894"/>
            <a:ext cx="8272463"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KPI va A/B Test: Muvaffaqiyat o'lchanadi</a:t>
            </a:r>
            <a:endParaRPr lang="en-US" sz="2450" dirty="0"/>
          </a:p>
        </p:txBody>
      </p:sp>
      <p:sp>
        <p:nvSpPr>
          <p:cNvPr id="5" name="Shape 1"/>
          <p:cNvSpPr/>
          <p:nvPr/>
        </p:nvSpPr>
        <p:spPr>
          <a:xfrm>
            <a:off x="435769" y="1094780"/>
            <a:ext cx="3630309" cy="835819"/>
          </a:xfrm>
          <a:prstGeom prst="rect">
            <a:avLst/>
          </a:prstGeom>
          <a:solidFill>
            <a:srgbClr val="E6E6FA"/>
          </a:solidFill>
          <a:ln w="9144">
            <a:solidFill>
              <a:srgbClr val="4B0082"/>
            </a:solidFill>
            <a:prstDash val="dash"/>
          </a:ln>
        </p:spPr>
      </p:sp>
      <p:sp>
        <p:nvSpPr>
          <p:cNvPr id="6" name="Text 2"/>
          <p:cNvSpPr/>
          <p:nvPr/>
        </p:nvSpPr>
        <p:spPr>
          <a:xfrm>
            <a:off x="578644" y="1201936"/>
            <a:ext cx="3344559" cy="126802"/>
          </a:xfrm>
          <a:prstGeom prst="rect">
            <a:avLst/>
          </a:prstGeom>
          <a:noFill/>
          <a:ln/>
        </p:spPr>
        <p:txBody>
          <a:bodyPr wrap="square" lIns="0" tIns="0" rIns="0" bIns="0" rtlCol="0" anchor="t">
            <a:spAutoFit/>
          </a:bodyPr>
          <a:lstStyle/>
          <a:p>
            <a:pPr algn="l" indent="0" marL="0">
              <a:buNone/>
            </a:pPr>
            <a:r>
              <a:rPr lang="en-US" sz="750" dirty="0">
                <a:solidFill>
                  <a:srgbClr val="9370DB"/>
                </a:solidFill>
                <a:latin typeface="Space Grotesk Medium" pitchFamily="34" charset="0"/>
                <a:ea typeface="Space Grotesk Medium" pitchFamily="34" charset="-122"/>
                <a:cs typeface="Space Grotesk Medium" pitchFamily="34" charset="-120"/>
              </a:rPr>
              <a:t>NORTH STAR METRIC</a:t>
            </a:r>
            <a:endParaRPr lang="en-US" sz="750" dirty="0"/>
          </a:p>
        </p:txBody>
      </p:sp>
      <p:sp>
        <p:nvSpPr>
          <p:cNvPr id="7" name="Text 3"/>
          <p:cNvSpPr/>
          <p:nvPr/>
        </p:nvSpPr>
        <p:spPr>
          <a:xfrm>
            <a:off x="578644" y="1364456"/>
            <a:ext cx="3344559" cy="255389"/>
          </a:xfrm>
          <a:prstGeom prst="rect">
            <a:avLst/>
          </a:prstGeom>
          <a:noFill/>
          <a:ln/>
        </p:spPr>
        <p:txBody>
          <a:bodyPr wrap="square" lIns="0" tIns="0" rIns="0" bIns="0" rtlCol="0" anchor="t">
            <a:spAutoFit/>
          </a:bodyPr>
          <a:lstStyle/>
          <a:p>
            <a:pPr algn="l" indent="0" marL="0">
              <a:buNone/>
            </a:pPr>
            <a:r>
              <a:rPr lang="en-US" sz="1500" dirty="0">
                <a:solidFill>
                  <a:srgbClr val="4B0082"/>
                </a:solidFill>
                <a:latin typeface="Space Grotesk Medium" pitchFamily="34" charset="0"/>
                <a:ea typeface="Space Grotesk Medium" pitchFamily="34" charset="-122"/>
                <a:cs typeface="Space Grotesk Medium" pitchFamily="34" charset="-120"/>
              </a:rPr>
              <a:t>Non-RTE GMV Share %</a:t>
            </a:r>
            <a:endParaRPr lang="en-US" sz="1500" dirty="0"/>
          </a:p>
        </p:txBody>
      </p:sp>
      <p:sp>
        <p:nvSpPr>
          <p:cNvPr id="8" name="Shape 4"/>
          <p:cNvSpPr/>
          <p:nvPr/>
        </p:nvSpPr>
        <p:spPr>
          <a:xfrm>
            <a:off x="435769" y="2059186"/>
            <a:ext cx="3630309" cy="835819"/>
          </a:xfrm>
          <a:prstGeom prst="rect">
            <a:avLst/>
          </a:prstGeom>
          <a:solidFill>
            <a:srgbClr val="E6E6FA"/>
          </a:solidFill>
          <a:ln w="9144">
            <a:solidFill>
              <a:srgbClr val="4B0082"/>
            </a:solidFill>
            <a:prstDash val="dash"/>
          </a:ln>
        </p:spPr>
      </p:sp>
      <p:sp>
        <p:nvSpPr>
          <p:cNvPr id="9" name="Text 5"/>
          <p:cNvSpPr/>
          <p:nvPr/>
        </p:nvSpPr>
        <p:spPr>
          <a:xfrm>
            <a:off x="578644" y="2166342"/>
            <a:ext cx="3344559" cy="126802"/>
          </a:xfrm>
          <a:prstGeom prst="rect">
            <a:avLst/>
          </a:prstGeom>
          <a:noFill/>
          <a:ln/>
        </p:spPr>
        <p:txBody>
          <a:bodyPr wrap="square" lIns="0" tIns="0" rIns="0" bIns="0" rtlCol="0" anchor="t">
            <a:spAutoFit/>
          </a:bodyPr>
          <a:lstStyle/>
          <a:p>
            <a:pPr algn="l" indent="0" marL="0">
              <a:buNone/>
            </a:pPr>
            <a:r>
              <a:rPr lang="en-US" sz="750" dirty="0">
                <a:solidFill>
                  <a:srgbClr val="9370DB"/>
                </a:solidFill>
                <a:latin typeface="Space Grotesk Medium" pitchFamily="34" charset="0"/>
                <a:ea typeface="Space Grotesk Medium" pitchFamily="34" charset="-122"/>
                <a:cs typeface="Space Grotesk Medium" pitchFamily="34" charset="-120"/>
              </a:rPr>
              <a:t>PRIMARY KPI</a:t>
            </a:r>
            <a:endParaRPr lang="en-US" sz="750" dirty="0"/>
          </a:p>
        </p:txBody>
      </p:sp>
      <p:sp>
        <p:nvSpPr>
          <p:cNvPr id="10" name="Text 6"/>
          <p:cNvSpPr/>
          <p:nvPr/>
        </p:nvSpPr>
        <p:spPr>
          <a:xfrm>
            <a:off x="578644" y="2328863"/>
            <a:ext cx="3344559" cy="255389"/>
          </a:xfrm>
          <a:prstGeom prst="rect">
            <a:avLst/>
          </a:prstGeom>
          <a:noFill/>
          <a:ln/>
        </p:spPr>
        <p:txBody>
          <a:bodyPr wrap="square" lIns="0" tIns="0" rIns="0" bIns="0" rtlCol="0" anchor="t">
            <a:spAutoFit/>
          </a:bodyPr>
          <a:lstStyle/>
          <a:p>
            <a:pPr algn="l" indent="0" marL="0">
              <a:buNone/>
            </a:pPr>
            <a:r>
              <a:rPr lang="en-US" sz="1500" dirty="0">
                <a:solidFill>
                  <a:srgbClr val="4B0082"/>
                </a:solidFill>
                <a:latin typeface="Space Grotesk Medium" pitchFamily="34" charset="0"/>
                <a:ea typeface="Space Grotesk Medium" pitchFamily="34" charset="-122"/>
                <a:cs typeface="Space Grotesk Medium" pitchFamily="34" charset="-120"/>
              </a:rPr>
              <a:t>1st Non-RTE Conv. Rate</a:t>
            </a:r>
            <a:endParaRPr lang="en-US" sz="1500" dirty="0"/>
          </a:p>
        </p:txBody>
      </p:sp>
      <p:sp>
        <p:nvSpPr>
          <p:cNvPr id="11" name="Shape 7"/>
          <p:cNvSpPr/>
          <p:nvPr/>
        </p:nvSpPr>
        <p:spPr>
          <a:xfrm>
            <a:off x="435769" y="3023592"/>
            <a:ext cx="3630309" cy="835819"/>
          </a:xfrm>
          <a:prstGeom prst="rect">
            <a:avLst/>
          </a:prstGeom>
          <a:solidFill>
            <a:srgbClr val="E6E6FA"/>
          </a:solidFill>
          <a:ln w="9144">
            <a:solidFill>
              <a:srgbClr val="4B0082"/>
            </a:solidFill>
            <a:prstDash val="dash"/>
          </a:ln>
        </p:spPr>
      </p:sp>
      <p:sp>
        <p:nvSpPr>
          <p:cNvPr id="12" name="Text 8"/>
          <p:cNvSpPr/>
          <p:nvPr/>
        </p:nvSpPr>
        <p:spPr>
          <a:xfrm>
            <a:off x="578644" y="3130748"/>
            <a:ext cx="3344559" cy="126802"/>
          </a:xfrm>
          <a:prstGeom prst="rect">
            <a:avLst/>
          </a:prstGeom>
          <a:noFill/>
          <a:ln/>
        </p:spPr>
        <p:txBody>
          <a:bodyPr wrap="square" lIns="0" tIns="0" rIns="0" bIns="0" rtlCol="0" anchor="t">
            <a:spAutoFit/>
          </a:bodyPr>
          <a:lstStyle/>
          <a:p>
            <a:pPr algn="l" indent="0" marL="0">
              <a:buNone/>
            </a:pPr>
            <a:r>
              <a:rPr lang="en-US" sz="750" dirty="0">
                <a:solidFill>
                  <a:srgbClr val="9370DB"/>
                </a:solidFill>
                <a:latin typeface="Space Grotesk Medium" pitchFamily="34" charset="0"/>
                <a:ea typeface="Space Grotesk Medium" pitchFamily="34" charset="-122"/>
                <a:cs typeface="Space Grotesk Medium" pitchFamily="34" charset="-120"/>
              </a:rPr>
              <a:t>SECONDARY KPIS</a:t>
            </a:r>
            <a:endParaRPr lang="en-US" sz="750" dirty="0"/>
          </a:p>
        </p:txBody>
      </p:sp>
      <p:sp>
        <p:nvSpPr>
          <p:cNvPr id="13" name="Text 9"/>
          <p:cNvSpPr/>
          <p:nvPr/>
        </p:nvSpPr>
        <p:spPr>
          <a:xfrm>
            <a:off x="578644" y="3293269"/>
            <a:ext cx="3344559" cy="255389"/>
          </a:xfrm>
          <a:prstGeom prst="rect">
            <a:avLst/>
          </a:prstGeom>
          <a:noFill/>
          <a:ln/>
        </p:spPr>
        <p:txBody>
          <a:bodyPr wrap="square" lIns="0" tIns="0" rIns="0" bIns="0" rtlCol="0" anchor="t">
            <a:spAutoFit/>
          </a:bodyPr>
          <a:lstStyle/>
          <a:p>
            <a:pPr algn="l" indent="0" marL="0">
              <a:buNone/>
            </a:pPr>
            <a:r>
              <a:rPr lang="en-US" sz="1500" dirty="0">
                <a:solidFill>
                  <a:srgbClr val="4B0082"/>
                </a:solidFill>
                <a:latin typeface="Space Grotesk Medium" pitchFamily="34" charset="0"/>
                <a:ea typeface="Space Grotesk Medium" pitchFamily="34" charset="-122"/>
                <a:cs typeface="Space Grotesk Medium" pitchFamily="34" charset="-120"/>
              </a:rPr>
              <a:t>Retention &amp; Repeat Rate</a:t>
            </a:r>
            <a:endParaRPr lang="en-US" sz="1500" dirty="0"/>
          </a:p>
        </p:txBody>
      </p:sp>
      <p:sp>
        <p:nvSpPr>
          <p:cNvPr id="14" name="Shape 10"/>
          <p:cNvSpPr/>
          <p:nvPr/>
        </p:nvSpPr>
        <p:spPr>
          <a:xfrm>
            <a:off x="4351827" y="1094780"/>
            <a:ext cx="4356404" cy="2750344"/>
          </a:xfrm>
          <a:prstGeom prst="rect">
            <a:avLst/>
          </a:prstGeom>
          <a:solidFill>
            <a:srgbClr val="FFFFFF"/>
          </a:solidFill>
          <a:ln w="9144">
            <a:solidFill>
              <a:srgbClr val="4B0082"/>
            </a:solidFill>
            <a:prstDash val="solid"/>
          </a:ln>
        </p:spPr>
      </p:sp>
      <p:sp>
        <p:nvSpPr>
          <p:cNvPr id="15" name="Text 11"/>
          <p:cNvSpPr/>
          <p:nvPr/>
        </p:nvSpPr>
        <p:spPr>
          <a:xfrm>
            <a:off x="4494702" y="1237655"/>
            <a:ext cx="4070654" cy="182166"/>
          </a:xfrm>
          <a:prstGeom prst="rect">
            <a:avLst/>
          </a:prstGeom>
          <a:noFill/>
          <a:ln/>
        </p:spPr>
        <p:txBody>
          <a:bodyPr wrap="square" lIns="0" tIns="0" rIns="0" bIns="0" rtlCol="0" anchor="t">
            <a:spAutoFit/>
          </a:bodyPr>
          <a:lstStyle/>
          <a:p>
            <a:pPr algn="ctr" indent="0" marL="0">
              <a:buNone/>
            </a:pPr>
            <a:r>
              <a:rPr lang="en-US" sz="1050" dirty="0">
                <a:solidFill>
                  <a:srgbClr val="4B0082"/>
                </a:solidFill>
                <a:latin typeface="Space Grotesk Medium" pitchFamily="34" charset="0"/>
                <a:ea typeface="Space Grotesk Medium" pitchFamily="34" charset="-122"/>
                <a:cs typeface="Space Grotesk Medium" pitchFamily="34" charset="-120"/>
              </a:rPr>
              <a:t>Eksperiment guruhlari</a:t>
            </a:r>
            <a:endParaRPr lang="en-US" sz="1050" dirty="0"/>
          </a:p>
        </p:txBody>
      </p:sp>
      <p:sp>
        <p:nvSpPr>
          <p:cNvPr id="16" name="Text 12"/>
          <p:cNvSpPr/>
          <p:nvPr/>
        </p:nvSpPr>
        <p:spPr>
          <a:xfrm>
            <a:off x="4494702" y="1526977"/>
            <a:ext cx="814527" cy="296466"/>
          </a:xfrm>
          <a:prstGeom prst="rect">
            <a:avLst/>
          </a:prstGeom>
          <a:noFill/>
          <a:ln/>
        </p:spPr>
        <p:txBody>
          <a:bodyPr wrap="none" lIns="85090" tIns="85090" rIns="85090" bIns="85090" rtlCol="0" anchor="ctr">
            <a:spAutoFit/>
          </a:bodyPr>
          <a:lstStyle/>
          <a:p>
            <a:pPr algn="l" indent="0" marL="0">
              <a:buNone/>
            </a:pPr>
            <a:r>
              <a:rPr lang="en-US" sz="800" b="1" dirty="0">
                <a:solidFill>
                  <a:srgbClr val="4B0082"/>
                </a:solidFill>
                <a:latin typeface="Space Grotesk Medium" pitchFamily="34" charset="0"/>
                <a:ea typeface="Space Grotesk Medium" pitchFamily="34" charset="-122"/>
                <a:cs typeface="Space Grotesk Medium" pitchFamily="34" charset="-120"/>
              </a:rPr>
              <a:t>Guruh</a:t>
            </a:r>
            <a:endParaRPr lang="en-US" sz="800" dirty="0"/>
          </a:p>
        </p:txBody>
      </p:sp>
      <p:sp>
        <p:nvSpPr>
          <p:cNvPr id="17" name="Text 13"/>
          <p:cNvSpPr/>
          <p:nvPr/>
        </p:nvSpPr>
        <p:spPr>
          <a:xfrm>
            <a:off x="5309229" y="1526977"/>
            <a:ext cx="1567746" cy="296466"/>
          </a:xfrm>
          <a:prstGeom prst="rect">
            <a:avLst/>
          </a:prstGeom>
          <a:noFill/>
          <a:ln/>
        </p:spPr>
        <p:txBody>
          <a:bodyPr wrap="square" lIns="85090" tIns="85090" rIns="85090" bIns="85090" rtlCol="0" anchor="ctr">
            <a:spAutoFit/>
          </a:bodyPr>
          <a:lstStyle/>
          <a:p>
            <a:pPr algn="l" indent="0" marL="0">
              <a:buNone/>
            </a:pPr>
            <a:r>
              <a:rPr lang="en-US" sz="800" b="1" dirty="0">
                <a:solidFill>
                  <a:srgbClr val="4B0082"/>
                </a:solidFill>
                <a:latin typeface="Space Grotesk Medium" pitchFamily="34" charset="0"/>
                <a:ea typeface="Space Grotesk Medium" pitchFamily="34" charset="-122"/>
                <a:cs typeface="Space Grotesk Medium" pitchFamily="34" charset="-120"/>
              </a:rPr>
              <a:t>Mexanika</a:t>
            </a:r>
            <a:endParaRPr lang="en-US" sz="800" dirty="0"/>
          </a:p>
        </p:txBody>
      </p:sp>
      <p:sp>
        <p:nvSpPr>
          <p:cNvPr id="18" name="Text 14"/>
          <p:cNvSpPr/>
          <p:nvPr/>
        </p:nvSpPr>
        <p:spPr>
          <a:xfrm>
            <a:off x="6876976" y="1526977"/>
            <a:ext cx="1688381" cy="296466"/>
          </a:xfrm>
          <a:prstGeom prst="rect">
            <a:avLst/>
          </a:prstGeom>
          <a:noFill/>
          <a:ln/>
        </p:spPr>
        <p:txBody>
          <a:bodyPr wrap="square" lIns="85090" tIns="85090" rIns="85090" bIns="85090" rtlCol="0" anchor="ctr">
            <a:spAutoFit/>
          </a:bodyPr>
          <a:lstStyle/>
          <a:p>
            <a:pPr algn="l" indent="0" marL="0">
              <a:buNone/>
            </a:pPr>
            <a:r>
              <a:rPr lang="en-US" sz="800" b="1" dirty="0">
                <a:solidFill>
                  <a:srgbClr val="4B0082"/>
                </a:solidFill>
                <a:latin typeface="Space Grotesk Medium" pitchFamily="34" charset="0"/>
                <a:ea typeface="Space Grotesk Medium" pitchFamily="34" charset="-122"/>
                <a:cs typeface="Space Grotesk Medium" pitchFamily="34" charset="-120"/>
              </a:rPr>
              <a:t>Maqsad</a:t>
            </a:r>
            <a:endParaRPr lang="en-US" sz="800" dirty="0"/>
          </a:p>
        </p:txBody>
      </p:sp>
      <p:sp>
        <p:nvSpPr>
          <p:cNvPr id="19" name="Text 15"/>
          <p:cNvSpPr/>
          <p:nvPr/>
        </p:nvSpPr>
        <p:spPr>
          <a:xfrm>
            <a:off x="4494702" y="1823442"/>
            <a:ext cx="814527" cy="319683"/>
          </a:xfrm>
          <a:prstGeom prst="rect">
            <a:avLst/>
          </a:prstGeom>
          <a:noFill/>
          <a:ln/>
        </p:spPr>
        <p:txBody>
          <a:bodyPr wrap="non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Control</a:t>
            </a:r>
            <a:endParaRPr lang="en-US" sz="850" dirty="0"/>
          </a:p>
        </p:txBody>
      </p:sp>
      <p:sp>
        <p:nvSpPr>
          <p:cNvPr id="20" name="Text 16"/>
          <p:cNvSpPr/>
          <p:nvPr/>
        </p:nvSpPr>
        <p:spPr>
          <a:xfrm>
            <a:off x="5309229" y="1823442"/>
            <a:ext cx="1567746" cy="319683"/>
          </a:xfrm>
          <a:prstGeom prst="rect">
            <a:avLst/>
          </a:prstGeom>
          <a:noFill/>
          <a:ln/>
        </p:spPr>
        <p:txBody>
          <a:bodyPr wrap="squar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Standart kutish ekrani</a:t>
            </a:r>
            <a:endParaRPr lang="en-US" sz="850" dirty="0"/>
          </a:p>
        </p:txBody>
      </p:sp>
      <p:sp>
        <p:nvSpPr>
          <p:cNvPr id="21" name="Text 17"/>
          <p:cNvSpPr/>
          <p:nvPr/>
        </p:nvSpPr>
        <p:spPr>
          <a:xfrm>
            <a:off x="6876976" y="1823442"/>
            <a:ext cx="1688381" cy="319683"/>
          </a:xfrm>
          <a:prstGeom prst="rect">
            <a:avLst/>
          </a:prstGeom>
          <a:noFill/>
          <a:ln/>
        </p:spPr>
        <p:txBody>
          <a:bodyPr wrap="squar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Baseline aniqlash</a:t>
            </a:r>
            <a:endParaRPr lang="en-US" sz="850" dirty="0"/>
          </a:p>
        </p:txBody>
      </p:sp>
      <p:sp>
        <p:nvSpPr>
          <p:cNvPr id="22" name="Text 18"/>
          <p:cNvSpPr/>
          <p:nvPr/>
        </p:nvSpPr>
        <p:spPr>
          <a:xfrm>
            <a:off x="4494702" y="2143125"/>
            <a:ext cx="814527" cy="316111"/>
          </a:xfrm>
          <a:prstGeom prst="rect">
            <a:avLst/>
          </a:prstGeom>
          <a:noFill/>
          <a:ln/>
        </p:spPr>
        <p:txBody>
          <a:bodyPr wrap="non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Fixed</a:t>
            </a:r>
            <a:endParaRPr lang="en-US" sz="850" dirty="0"/>
          </a:p>
        </p:txBody>
      </p:sp>
      <p:sp>
        <p:nvSpPr>
          <p:cNvPr id="23" name="Text 19"/>
          <p:cNvSpPr/>
          <p:nvPr/>
        </p:nvSpPr>
        <p:spPr>
          <a:xfrm>
            <a:off x="5309229" y="2143125"/>
            <a:ext cx="1567746" cy="316111"/>
          </a:xfrm>
          <a:prstGeom prst="rect">
            <a:avLst/>
          </a:prstGeom>
          <a:noFill/>
          <a:ln/>
        </p:spPr>
        <p:txBody>
          <a:bodyPr wrap="squar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Statik promo-kod</a:t>
            </a:r>
            <a:endParaRPr lang="en-US" sz="850" dirty="0"/>
          </a:p>
        </p:txBody>
      </p:sp>
      <p:sp>
        <p:nvSpPr>
          <p:cNvPr id="24" name="Text 20"/>
          <p:cNvSpPr/>
          <p:nvPr/>
        </p:nvSpPr>
        <p:spPr>
          <a:xfrm>
            <a:off x="6876976" y="2143125"/>
            <a:ext cx="1688381" cy="316111"/>
          </a:xfrm>
          <a:prstGeom prst="rect">
            <a:avLst/>
          </a:prstGeom>
          <a:noFill/>
          <a:ln/>
        </p:spPr>
        <p:txBody>
          <a:bodyPr wrap="squar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O'yin effektini o'lchash</a:t>
            </a:r>
            <a:endParaRPr lang="en-US" sz="850" dirty="0"/>
          </a:p>
        </p:txBody>
      </p:sp>
      <p:sp>
        <p:nvSpPr>
          <p:cNvPr id="25" name="Text 21"/>
          <p:cNvSpPr/>
          <p:nvPr/>
        </p:nvSpPr>
        <p:spPr>
          <a:xfrm>
            <a:off x="4494702" y="2459236"/>
            <a:ext cx="814527" cy="316111"/>
          </a:xfrm>
          <a:prstGeom prst="rect">
            <a:avLst/>
          </a:prstGeom>
          <a:noFill/>
          <a:ln/>
        </p:spPr>
        <p:txBody>
          <a:bodyPr wrap="non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AI Reward</a:t>
            </a:r>
            <a:endParaRPr lang="en-US" sz="850" dirty="0"/>
          </a:p>
        </p:txBody>
      </p:sp>
      <p:sp>
        <p:nvSpPr>
          <p:cNvPr id="26" name="Text 22"/>
          <p:cNvSpPr/>
          <p:nvPr/>
        </p:nvSpPr>
        <p:spPr>
          <a:xfrm>
            <a:off x="5309229" y="2459236"/>
            <a:ext cx="1567746" cy="316111"/>
          </a:xfrm>
          <a:prstGeom prst="rect">
            <a:avLst/>
          </a:prstGeom>
          <a:noFill/>
          <a:ln/>
        </p:spPr>
        <p:txBody>
          <a:bodyPr wrap="squar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Play &amp; Discover AI</a:t>
            </a:r>
            <a:endParaRPr lang="en-US" sz="850" dirty="0"/>
          </a:p>
        </p:txBody>
      </p:sp>
      <p:sp>
        <p:nvSpPr>
          <p:cNvPr id="27" name="Text 23"/>
          <p:cNvSpPr/>
          <p:nvPr/>
        </p:nvSpPr>
        <p:spPr>
          <a:xfrm>
            <a:off x="6876976" y="2459236"/>
            <a:ext cx="1688381" cy="316111"/>
          </a:xfrm>
          <a:prstGeom prst="rect">
            <a:avLst/>
          </a:prstGeom>
          <a:noFill/>
          <a:ln/>
        </p:spPr>
        <p:txBody>
          <a:bodyPr wrap="square" lIns="85090" tIns="102108" rIns="85090" bIns="102108" rtlCol="0" anchor="ctr">
            <a:spAutoFit/>
          </a:bodyPr>
          <a:lstStyle/>
          <a:p>
            <a:pPr algn="l" indent="0" marL="0">
              <a:buNone/>
            </a:pPr>
            <a:r>
              <a:rPr lang="en-US" sz="850" dirty="0">
                <a:solidFill>
                  <a:srgbClr val="333333"/>
                </a:solidFill>
                <a:latin typeface="Inter" pitchFamily="34" charset="0"/>
                <a:ea typeface="Inter" pitchFamily="34" charset="-122"/>
                <a:cs typeface="Inter" pitchFamily="34" charset="-120"/>
              </a:rPr>
              <a:t>Shaxsiylashtirish effekti</a:t>
            </a:r>
            <a:endParaRPr lang="en-US" sz="850" dirty="0"/>
          </a:p>
        </p:txBody>
      </p:sp>
      <p:sp>
        <p:nvSpPr>
          <p:cNvPr id="28" name="Text 24"/>
          <p:cNvSpPr/>
          <p:nvPr/>
        </p:nvSpPr>
        <p:spPr>
          <a:xfrm>
            <a:off x="7311628" y="4884539"/>
            <a:ext cx="1682353"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SLIDE_08 // METRICS_AND_EXPERIMENTS</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35769" y="292894"/>
            <a:ext cx="8272463" cy="516136"/>
          </a:xfrm>
          <a:prstGeom prst="rect">
            <a:avLst/>
          </a:prstGeom>
          <a:noFill/>
          <a:ln/>
        </p:spPr>
        <p:txBody>
          <a:bodyPr wrap="square" lIns="0" tIns="0" rIns="0" bIns="85090" rtlCol="0" anchor="t">
            <a:spAutoFit/>
          </a:bodyPr>
          <a:lstStyle/>
          <a:p>
            <a:pPr algn="l"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Unit Economics va 90 kunlik Roadmap</a:t>
            </a:r>
            <a:endParaRPr lang="en-US" sz="2450" dirty="0"/>
          </a:p>
        </p:txBody>
      </p:sp>
      <p:sp>
        <p:nvSpPr>
          <p:cNvPr id="5" name="Text 1"/>
          <p:cNvSpPr/>
          <p:nvPr/>
        </p:nvSpPr>
        <p:spPr>
          <a:xfrm>
            <a:off x="435769" y="1809155"/>
            <a:ext cx="2481728" cy="182166"/>
          </a:xfrm>
          <a:prstGeom prst="rect">
            <a:avLst/>
          </a:prstGeom>
          <a:noFill/>
          <a:ln/>
        </p:spPr>
        <p:txBody>
          <a:bodyPr wrap="square" lIns="0" tIns="0" rIns="0" bIns="0" rtlCol="0" anchor="t">
            <a:spAutoFit/>
          </a:bodyPr>
          <a:lstStyle/>
          <a:p>
            <a:pPr algn="ctr" indent="0" marL="0">
              <a:buNone/>
            </a:pPr>
            <a:r>
              <a:rPr lang="en-US" sz="1050" dirty="0">
                <a:solidFill>
                  <a:srgbClr val="4B0082"/>
                </a:solidFill>
                <a:latin typeface="Space Grotesk Medium" pitchFamily="34" charset="0"/>
                <a:ea typeface="Space Grotesk Medium" pitchFamily="34" charset="-122"/>
                <a:cs typeface="Space Grotesk Medium" pitchFamily="34" charset="-120"/>
              </a:rPr>
              <a:t>0–30 KUN: MVP</a:t>
            </a:r>
            <a:endParaRPr lang="en-US" sz="1050" dirty="0"/>
          </a:p>
        </p:txBody>
      </p:sp>
      <p:sp>
        <p:nvSpPr>
          <p:cNvPr id="6" name="Text 2"/>
          <p:cNvSpPr/>
          <p:nvPr/>
        </p:nvSpPr>
        <p:spPr>
          <a:xfrm>
            <a:off x="435769" y="2062758"/>
            <a:ext cx="2481728" cy="137517"/>
          </a:xfrm>
          <a:prstGeom prst="rect">
            <a:avLst/>
          </a:prstGeom>
          <a:noFill/>
          <a:ln/>
        </p:spPr>
        <p:txBody>
          <a:bodyPr wrap="square" lIns="0" tIns="0" rIns="0" bIns="0" rtlCol="0" anchor="t">
            <a:spAutoFit/>
          </a:bodyPr>
          <a:lstStyle/>
          <a:p>
            <a:pPr algn="ctr" indent="0" marL="0">
              <a:buNone/>
            </a:pPr>
            <a:r>
              <a:rPr lang="en-US" sz="850" dirty="0">
                <a:solidFill>
                  <a:srgbClr val="666666"/>
                </a:solidFill>
                <a:latin typeface="Inter" pitchFamily="34" charset="0"/>
                <a:ea typeface="Inter" pitchFamily="34" charset="-122"/>
                <a:cs typeface="Inter" pitchFamily="34" charset="-120"/>
              </a:rPr>
              <a:t>Infratuzilma tayyorlash va mini-o'yin prototipi</a:t>
            </a:r>
            <a:endParaRPr lang="en-US" sz="850" dirty="0"/>
          </a:p>
        </p:txBody>
      </p:sp>
      <p:sp>
        <p:nvSpPr>
          <p:cNvPr id="7" name="Text 3"/>
          <p:cNvSpPr/>
          <p:nvPr/>
        </p:nvSpPr>
        <p:spPr>
          <a:xfrm>
            <a:off x="3331136" y="1809155"/>
            <a:ext cx="2481728" cy="182166"/>
          </a:xfrm>
          <a:prstGeom prst="rect">
            <a:avLst/>
          </a:prstGeom>
          <a:noFill/>
          <a:ln/>
        </p:spPr>
        <p:txBody>
          <a:bodyPr wrap="square" lIns="0" tIns="0" rIns="0" bIns="0" rtlCol="0" anchor="t">
            <a:spAutoFit/>
          </a:bodyPr>
          <a:lstStyle/>
          <a:p>
            <a:pPr algn="ctr" indent="0" marL="0">
              <a:buNone/>
            </a:pPr>
            <a:r>
              <a:rPr lang="en-US" sz="1050" dirty="0">
                <a:solidFill>
                  <a:srgbClr val="4B0082"/>
                </a:solidFill>
                <a:latin typeface="Space Grotesk Medium" pitchFamily="34" charset="0"/>
                <a:ea typeface="Space Grotesk Medium" pitchFamily="34" charset="-122"/>
                <a:cs typeface="Space Grotesk Medium" pitchFamily="34" charset="-120"/>
              </a:rPr>
              <a:t>30–60 KUN: PILOT</a:t>
            </a:r>
            <a:endParaRPr lang="en-US" sz="1050" dirty="0"/>
          </a:p>
        </p:txBody>
      </p:sp>
      <p:sp>
        <p:nvSpPr>
          <p:cNvPr id="8" name="Text 4"/>
          <p:cNvSpPr/>
          <p:nvPr/>
        </p:nvSpPr>
        <p:spPr>
          <a:xfrm>
            <a:off x="3331136" y="2062758"/>
            <a:ext cx="2481728" cy="275034"/>
          </a:xfrm>
          <a:prstGeom prst="rect">
            <a:avLst/>
          </a:prstGeom>
          <a:noFill/>
          <a:ln/>
        </p:spPr>
        <p:txBody>
          <a:bodyPr wrap="square" lIns="0" tIns="0" rIns="0" bIns="0" rtlCol="0" anchor="t">
            <a:spAutoFit/>
          </a:bodyPr>
          <a:lstStyle/>
          <a:p>
            <a:pPr algn="ctr" indent="0" marL="0">
              <a:buNone/>
            </a:pPr>
            <a:r>
              <a:rPr lang="en-US" sz="850" dirty="0">
                <a:solidFill>
                  <a:srgbClr val="666666"/>
                </a:solidFill>
                <a:latin typeface="Inter" pitchFamily="34" charset="0"/>
                <a:ea typeface="Inter" pitchFamily="34" charset="-122"/>
                <a:cs typeface="Inter" pitchFamily="34" charset="-120"/>
              </a:rPr>
              <a:t>Kichik guruhda A/B test va AI modelini o'qitish</a:t>
            </a:r>
            <a:endParaRPr lang="en-US" sz="850" dirty="0"/>
          </a:p>
        </p:txBody>
      </p:sp>
      <p:sp>
        <p:nvSpPr>
          <p:cNvPr id="9" name="Text 5"/>
          <p:cNvSpPr/>
          <p:nvPr/>
        </p:nvSpPr>
        <p:spPr>
          <a:xfrm>
            <a:off x="6226504" y="1809155"/>
            <a:ext cx="2481728" cy="182166"/>
          </a:xfrm>
          <a:prstGeom prst="rect">
            <a:avLst/>
          </a:prstGeom>
          <a:noFill/>
          <a:ln/>
        </p:spPr>
        <p:txBody>
          <a:bodyPr wrap="square" lIns="0" tIns="0" rIns="0" bIns="0" rtlCol="0" anchor="t">
            <a:spAutoFit/>
          </a:bodyPr>
          <a:lstStyle/>
          <a:p>
            <a:pPr algn="ctr" indent="0" marL="0">
              <a:buNone/>
            </a:pPr>
            <a:r>
              <a:rPr lang="en-US" sz="1050" dirty="0">
                <a:solidFill>
                  <a:srgbClr val="4B0082"/>
                </a:solidFill>
                <a:latin typeface="Space Grotesk Medium" pitchFamily="34" charset="0"/>
                <a:ea typeface="Space Grotesk Medium" pitchFamily="34" charset="-122"/>
                <a:cs typeface="Space Grotesk Medium" pitchFamily="34" charset="-120"/>
              </a:rPr>
              <a:t>60–90 KUN: SCALE</a:t>
            </a:r>
            <a:endParaRPr lang="en-US" sz="1050" dirty="0"/>
          </a:p>
        </p:txBody>
      </p:sp>
      <p:sp>
        <p:nvSpPr>
          <p:cNvPr id="10" name="Text 6"/>
          <p:cNvSpPr/>
          <p:nvPr/>
        </p:nvSpPr>
        <p:spPr>
          <a:xfrm>
            <a:off x="6226504" y="2062758"/>
            <a:ext cx="2481728" cy="275034"/>
          </a:xfrm>
          <a:prstGeom prst="rect">
            <a:avLst/>
          </a:prstGeom>
          <a:noFill/>
          <a:ln/>
        </p:spPr>
        <p:txBody>
          <a:bodyPr wrap="square" lIns="0" tIns="0" rIns="0" bIns="0" rtlCol="0" anchor="t">
            <a:spAutoFit/>
          </a:bodyPr>
          <a:lstStyle/>
          <a:p>
            <a:pPr algn="ctr" indent="0" marL="0">
              <a:buNone/>
            </a:pPr>
            <a:r>
              <a:rPr lang="en-US" sz="850" dirty="0">
                <a:solidFill>
                  <a:srgbClr val="666666"/>
                </a:solidFill>
                <a:latin typeface="Inter" pitchFamily="34" charset="0"/>
                <a:ea typeface="Inter" pitchFamily="34" charset="-122"/>
                <a:cs typeface="Inter" pitchFamily="34" charset="-120"/>
              </a:rPr>
              <a:t>To'liq masshtablash va natijalarni optimallashtirish</a:t>
            </a:r>
            <a:endParaRPr lang="en-US" sz="850" dirty="0"/>
          </a:p>
        </p:txBody>
      </p:sp>
      <p:sp>
        <p:nvSpPr>
          <p:cNvPr id="11" name="Shape 7"/>
          <p:cNvSpPr/>
          <p:nvPr/>
        </p:nvSpPr>
        <p:spPr>
          <a:xfrm>
            <a:off x="435769" y="2909292"/>
            <a:ext cx="3993356" cy="1228725"/>
          </a:xfrm>
          <a:prstGeom prst="rect">
            <a:avLst/>
          </a:prstGeom>
          <a:solidFill>
            <a:srgbClr val="E6E6FA"/>
          </a:solidFill>
          <a:ln w="9144">
            <a:solidFill>
              <a:srgbClr val="4B0082"/>
            </a:solidFill>
            <a:prstDash val="dash"/>
          </a:ln>
        </p:spPr>
      </p:sp>
      <p:sp>
        <p:nvSpPr>
          <p:cNvPr id="12" name="Text 8"/>
          <p:cNvSpPr/>
          <p:nvPr/>
        </p:nvSpPr>
        <p:spPr>
          <a:xfrm>
            <a:off x="614363" y="3052167"/>
            <a:ext cx="3636169" cy="201811"/>
          </a:xfrm>
          <a:prstGeom prst="rect">
            <a:avLst/>
          </a:prstGeom>
          <a:noFill/>
          <a:ln/>
        </p:spPr>
        <p:txBody>
          <a:bodyPr wrap="square" lIns="0" tIns="0" rIns="0" bIns="0" rtlCol="0" anchor="t">
            <a:spAutoFit/>
          </a:bodyPr>
          <a:lstStyle/>
          <a:p>
            <a:pPr algn="l" indent="0" marL="0">
              <a:buNone/>
            </a:pPr>
            <a:r>
              <a:rPr lang="en-US" sz="1150" dirty="0">
                <a:solidFill>
                  <a:srgbClr val="4B0082"/>
                </a:solidFill>
                <a:latin typeface="Space Grotesk Medium" pitchFamily="34" charset="0"/>
                <a:ea typeface="Space Grotesk Medium" pitchFamily="34" charset="-122"/>
                <a:cs typeface="Space Grotesk Medium" pitchFamily="34" charset="-120"/>
              </a:rPr>
              <a:t>Iqtisodiy samaradorlik</a:t>
            </a:r>
            <a:endParaRPr lang="en-US" sz="1150" dirty="0"/>
          </a:p>
        </p:txBody>
      </p:sp>
      <p:sp>
        <p:nvSpPr>
          <p:cNvPr id="13" name="Text 9"/>
          <p:cNvSpPr/>
          <p:nvPr/>
        </p:nvSpPr>
        <p:spPr>
          <a:xfrm>
            <a:off x="900113" y="3382566"/>
            <a:ext cx="3350419" cy="155377"/>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Inter" pitchFamily="34" charset="0"/>
                <a:ea typeface="Inter" pitchFamily="34" charset="-122"/>
                <a:cs typeface="Inter" pitchFamily="34" charset="-120"/>
              </a:rPr>
              <a:t>Promo xarajatlarini 20% optimallashtirish</a:t>
            </a:r>
            <a:endParaRPr lang="en-US" sz="950" dirty="0"/>
          </a:p>
        </p:txBody>
      </p:sp>
      <p:sp>
        <p:nvSpPr>
          <p:cNvPr id="14" name="Text 10"/>
          <p:cNvSpPr/>
          <p:nvPr/>
        </p:nvSpPr>
        <p:spPr>
          <a:xfrm>
            <a:off x="900113" y="3537942"/>
            <a:ext cx="3350419" cy="155377"/>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Inter" pitchFamily="34" charset="0"/>
                <a:ea typeface="Inter" pitchFamily="34" charset="-122"/>
                <a:cs typeface="Inter" pitchFamily="34" charset="-120"/>
              </a:rPr>
              <a:t>Incremental GMV o'sishi</a:t>
            </a:r>
            <a:endParaRPr lang="en-US" sz="950" dirty="0"/>
          </a:p>
        </p:txBody>
      </p:sp>
      <p:sp>
        <p:nvSpPr>
          <p:cNvPr id="15" name="Shape 11"/>
          <p:cNvSpPr/>
          <p:nvPr/>
        </p:nvSpPr>
        <p:spPr>
          <a:xfrm>
            <a:off x="4714875" y="2909292"/>
            <a:ext cx="3993356" cy="1228725"/>
          </a:xfrm>
          <a:prstGeom prst="rect">
            <a:avLst/>
          </a:prstGeom>
          <a:solidFill>
            <a:srgbClr val="E6E6FA"/>
          </a:solidFill>
          <a:ln w="9144">
            <a:solidFill>
              <a:srgbClr val="4B0082"/>
            </a:solidFill>
            <a:prstDash val="dash"/>
          </a:ln>
        </p:spPr>
      </p:sp>
      <p:sp>
        <p:nvSpPr>
          <p:cNvPr id="16" name="Text 12"/>
          <p:cNvSpPr/>
          <p:nvPr/>
        </p:nvSpPr>
        <p:spPr>
          <a:xfrm>
            <a:off x="4893469" y="3052167"/>
            <a:ext cx="3636169" cy="201811"/>
          </a:xfrm>
          <a:prstGeom prst="rect">
            <a:avLst/>
          </a:prstGeom>
          <a:noFill/>
          <a:ln/>
        </p:spPr>
        <p:txBody>
          <a:bodyPr wrap="square" lIns="0" tIns="0" rIns="0" bIns="0" rtlCol="0" anchor="t">
            <a:spAutoFit/>
          </a:bodyPr>
          <a:lstStyle/>
          <a:p>
            <a:pPr algn="l" indent="0" marL="0">
              <a:buNone/>
            </a:pPr>
            <a:r>
              <a:rPr lang="en-US" sz="1150" dirty="0">
                <a:solidFill>
                  <a:srgbClr val="4B0082"/>
                </a:solidFill>
                <a:latin typeface="Space Grotesk Medium" pitchFamily="34" charset="0"/>
                <a:ea typeface="Space Grotesk Medium" pitchFamily="34" charset="-122"/>
                <a:cs typeface="Space Grotesk Medium" pitchFamily="34" charset="-120"/>
              </a:rPr>
              <a:t>Biznes qiymati</a:t>
            </a:r>
            <a:endParaRPr lang="en-US" sz="1150" dirty="0"/>
          </a:p>
        </p:txBody>
      </p:sp>
      <p:sp>
        <p:nvSpPr>
          <p:cNvPr id="17" name="Text 13"/>
          <p:cNvSpPr/>
          <p:nvPr/>
        </p:nvSpPr>
        <p:spPr>
          <a:xfrm>
            <a:off x="5179219" y="3382566"/>
            <a:ext cx="3350419" cy="155377"/>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Inter" pitchFamily="34" charset="0"/>
                <a:ea typeface="Inter" pitchFamily="34" charset="-122"/>
                <a:cs typeface="Inter" pitchFamily="34" charset="-120"/>
              </a:rPr>
              <a:t>CACsiz yangi kategoriya aktivatsiyasi</a:t>
            </a:r>
            <a:endParaRPr lang="en-US" sz="950" dirty="0"/>
          </a:p>
        </p:txBody>
      </p:sp>
      <p:sp>
        <p:nvSpPr>
          <p:cNvPr id="18" name="Text 14"/>
          <p:cNvSpPr/>
          <p:nvPr/>
        </p:nvSpPr>
        <p:spPr>
          <a:xfrm>
            <a:off x="5179219" y="3537942"/>
            <a:ext cx="3350419" cy="155377"/>
          </a:xfrm>
          <a:prstGeom prst="rect">
            <a:avLst/>
          </a:prstGeom>
          <a:noFill/>
          <a:ln/>
        </p:spPr>
        <p:txBody>
          <a:bodyPr wrap="square" lIns="0" tIns="0" rIns="0" bIns="0" rtlCol="0" anchor="t">
            <a:spAutoFit/>
          </a:bodyPr>
          <a:lstStyle/>
          <a:p>
            <a:pPr algn="l" indent="0" marL="0">
              <a:buNone/>
            </a:pPr>
            <a:r>
              <a:rPr lang="en-US" sz="950" dirty="0">
                <a:solidFill>
                  <a:srgbClr val="333333"/>
                </a:solidFill>
                <a:latin typeface="Inter" pitchFamily="34" charset="0"/>
                <a:ea typeface="Inter" pitchFamily="34" charset="-122"/>
                <a:cs typeface="Inter" pitchFamily="34" charset="-120"/>
              </a:rPr>
              <a:t>LTV (Lifetime Value) ko'rsatkichini oshirish</a:t>
            </a:r>
            <a:endParaRPr lang="en-US" sz="950" dirty="0"/>
          </a:p>
        </p:txBody>
      </p:sp>
      <p:sp>
        <p:nvSpPr>
          <p:cNvPr id="19" name="Text 15"/>
          <p:cNvSpPr/>
          <p:nvPr/>
        </p:nvSpPr>
        <p:spPr>
          <a:xfrm>
            <a:off x="7343775" y="4884539"/>
            <a:ext cx="1650206"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SLIDE_09 // ROADMAP_AND_ECONOMICS</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564356" y="828870"/>
            <a:ext cx="8015288" cy="3485759"/>
          </a:xfrm>
          <a:prstGeom prst="rect">
            <a:avLst/>
          </a:prstGeom>
          <a:solidFill>
            <a:srgbClr val="000000">
              <a:alpha val="0"/>
            </a:srgbClr>
          </a:solidFill>
          <a:ln w="9144">
            <a:solidFill>
              <a:srgbClr val="9370DB"/>
            </a:solidFill>
            <a:prstDash val="dash"/>
          </a:ln>
        </p:spPr>
      </p:sp>
      <p:sp>
        <p:nvSpPr>
          <p:cNvPr id="5" name="Text 1"/>
          <p:cNvSpPr/>
          <p:nvPr/>
        </p:nvSpPr>
        <p:spPr>
          <a:xfrm>
            <a:off x="1000125" y="1264639"/>
            <a:ext cx="7143750" cy="437555"/>
          </a:xfrm>
          <a:prstGeom prst="rect">
            <a:avLst/>
          </a:prstGeom>
          <a:noFill/>
          <a:ln/>
        </p:spPr>
        <p:txBody>
          <a:bodyPr wrap="square" lIns="0" tIns="0" rIns="0" bIns="0" rtlCol="0" anchor="t">
            <a:spAutoFit/>
          </a:bodyPr>
          <a:lstStyle/>
          <a:p>
            <a:pPr algn="ctr" indent="0" marL="0">
              <a:buNone/>
            </a:pPr>
            <a:r>
              <a:rPr lang="en-US" sz="2450" b="1" dirty="0">
                <a:solidFill>
                  <a:srgbClr val="4B0082"/>
                </a:solidFill>
                <a:latin typeface="Space Grotesk Medium" pitchFamily="34" charset="0"/>
                <a:ea typeface="Space Grotesk Medium" pitchFamily="34" charset="-122"/>
                <a:cs typeface="Space Grotesk Medium" pitchFamily="34" charset="-120"/>
              </a:rPr>
              <a:t>NEGA BU YECHIM G'OLIB BO'LADI?</a:t>
            </a:r>
            <a:endParaRPr lang="en-US" sz="2450" dirty="0"/>
          </a:p>
        </p:txBody>
      </p:sp>
      <p:sp>
        <p:nvSpPr>
          <p:cNvPr id="6" name="Text 2"/>
          <p:cNvSpPr/>
          <p:nvPr/>
        </p:nvSpPr>
        <p:spPr>
          <a:xfrm>
            <a:off x="1000125" y="1845069"/>
            <a:ext cx="7143750" cy="882253"/>
          </a:xfrm>
          <a:prstGeom prst="rect">
            <a:avLst/>
          </a:prstGeom>
          <a:noFill/>
          <a:ln/>
        </p:spPr>
        <p:txBody>
          <a:bodyPr wrap="square" lIns="0" tIns="170053" rIns="0" bIns="170053" rtlCol="0" anchor="t">
            <a:spAutoFit/>
          </a:bodyPr>
          <a:lstStyle/>
          <a:p>
            <a:pPr algn="ctr" indent="0" marL="0">
              <a:buNone/>
            </a:pPr>
            <a:r>
              <a:rPr lang="en-US" sz="1700" dirty="0">
                <a:solidFill>
                  <a:srgbClr val="9370DB"/>
                </a:solidFill>
                <a:latin typeface="Space Grotesk Medium" pitchFamily="34" charset="0"/>
                <a:ea typeface="Space Grotesk Medium" pitchFamily="34" charset="-122"/>
                <a:cs typeface="Space Grotesk Medium" pitchFamily="34" charset="-120"/>
              </a:rPr>
              <a:t>Biz o'yin yaratmadik. Biz kutish vaqtini Growth Engine'ga aylantirdik.</a:t>
            </a:r>
            <a:endParaRPr lang="en-US" sz="1700" dirty="0"/>
          </a:p>
        </p:txBody>
      </p:sp>
      <p:pic>
        <p:nvPicPr>
          <p:cNvPr id="7" name="Image 1" descr="preencoded.png">    </p:cNvPr>
          <p:cNvPicPr>
            <a:picLocks noChangeAspect="1"/>
          </p:cNvPicPr>
          <p:nvPr/>
        </p:nvPicPr>
        <p:blipFill>
          <a:blip r:embed="rId2"/>
          <a:stretch>
            <a:fillRect/>
          </a:stretch>
        </p:blipFill>
        <p:spPr>
          <a:xfrm>
            <a:off x="1000125" y="3048791"/>
            <a:ext cx="171450" cy="171450"/>
          </a:xfrm>
          <a:prstGeom prst="rect">
            <a:avLst/>
          </a:prstGeom>
        </p:spPr>
      </p:pic>
      <p:sp>
        <p:nvSpPr>
          <p:cNvPr id="8" name="Text 3"/>
          <p:cNvSpPr/>
          <p:nvPr/>
        </p:nvSpPr>
        <p:spPr>
          <a:xfrm>
            <a:off x="1278731" y="3013072"/>
            <a:ext cx="3186113"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B0082"/>
                </a:solidFill>
                <a:latin typeface="Space Grotesk Medium" pitchFamily="34" charset="0"/>
                <a:ea typeface="Space Grotesk Medium" pitchFamily="34" charset="-122"/>
                <a:cs typeface="Space Grotesk Medium" pitchFamily="34" charset="-120"/>
              </a:rPr>
              <a:t>CACsiz o'sish</a:t>
            </a:r>
            <a:endParaRPr lang="en-US" sz="950" dirty="0"/>
          </a:p>
        </p:txBody>
      </p:sp>
      <p:sp>
        <p:nvSpPr>
          <p:cNvPr id="9" name="Text 4"/>
          <p:cNvSpPr/>
          <p:nvPr/>
        </p:nvSpPr>
        <p:spPr>
          <a:xfrm>
            <a:off x="1278731" y="3203804"/>
            <a:ext cx="3128963"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Mavjud foydalanuvchi bazasidan foydalangan holda</a:t>
            </a:r>
            <a:endParaRPr lang="en-US" sz="950" dirty="0"/>
          </a:p>
        </p:txBody>
      </p:sp>
      <p:sp>
        <p:nvSpPr>
          <p:cNvPr id="10" name="Text 5"/>
          <p:cNvSpPr/>
          <p:nvPr/>
        </p:nvSpPr>
        <p:spPr>
          <a:xfrm>
            <a:off x="1278731" y="3383821"/>
            <a:ext cx="2973586"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yangi mijoz jalb qilish xarajatlarini nolga tushirish.</a:t>
            </a:r>
            <a:endParaRPr lang="en-US" sz="950" dirty="0"/>
          </a:p>
        </p:txBody>
      </p:sp>
      <p:pic>
        <p:nvPicPr>
          <p:cNvPr id="11" name="Image 2" descr="preencoded.png">    </p:cNvPr>
          <p:cNvPicPr>
            <a:picLocks noChangeAspect="1"/>
          </p:cNvPicPr>
          <p:nvPr/>
        </p:nvPicPr>
        <p:blipFill>
          <a:blip r:embed="rId3"/>
          <a:stretch>
            <a:fillRect/>
          </a:stretch>
        </p:blipFill>
        <p:spPr>
          <a:xfrm>
            <a:off x="4679156" y="3048791"/>
            <a:ext cx="214313" cy="171450"/>
          </a:xfrm>
          <a:prstGeom prst="rect">
            <a:avLst/>
          </a:prstGeom>
        </p:spPr>
      </p:pic>
      <p:sp>
        <p:nvSpPr>
          <p:cNvPr id="12" name="Text 6"/>
          <p:cNvSpPr/>
          <p:nvPr/>
        </p:nvSpPr>
        <p:spPr>
          <a:xfrm>
            <a:off x="5000625" y="3013072"/>
            <a:ext cx="3143250"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B0082"/>
                </a:solidFill>
                <a:latin typeface="Space Grotesk Medium" pitchFamily="34" charset="0"/>
                <a:ea typeface="Space Grotesk Medium" pitchFamily="34" charset="-122"/>
                <a:cs typeface="Space Grotesk Medium" pitchFamily="34" charset="-120"/>
              </a:rPr>
              <a:t>Shaxsiylashtirilgan aktivatsiya</a:t>
            </a:r>
            <a:endParaRPr lang="en-US" sz="950" dirty="0"/>
          </a:p>
        </p:txBody>
      </p:sp>
      <p:sp>
        <p:nvSpPr>
          <p:cNvPr id="13" name="Text 7"/>
          <p:cNvSpPr/>
          <p:nvPr/>
        </p:nvSpPr>
        <p:spPr>
          <a:xfrm>
            <a:off x="5000625" y="3203804"/>
            <a:ext cx="2739628"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Har bir foydalanuvchi uchun aynan unga mos</a:t>
            </a:r>
            <a:endParaRPr lang="en-US" sz="950" dirty="0"/>
          </a:p>
        </p:txBody>
      </p:sp>
      <p:sp>
        <p:nvSpPr>
          <p:cNvPr id="14" name="Text 8"/>
          <p:cNvSpPr/>
          <p:nvPr/>
        </p:nvSpPr>
        <p:spPr>
          <a:xfrm>
            <a:off x="5000625" y="3383821"/>
            <a:ext cx="2486025"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keladigan "Next Best Offer" taqdim etish.</a:t>
            </a:r>
            <a:endParaRPr lang="en-US" sz="950" dirty="0"/>
          </a:p>
        </p:txBody>
      </p:sp>
      <p:pic>
        <p:nvPicPr>
          <p:cNvPr id="15" name="Image 3" descr="preencoded.png">    </p:cNvPr>
          <p:cNvPicPr>
            <a:picLocks noChangeAspect="1"/>
          </p:cNvPicPr>
          <p:nvPr/>
        </p:nvPicPr>
        <p:blipFill>
          <a:blip r:embed="rId4"/>
          <a:stretch>
            <a:fillRect/>
          </a:stretch>
        </p:blipFill>
        <p:spPr>
          <a:xfrm>
            <a:off x="1000125" y="3803154"/>
            <a:ext cx="171450" cy="171450"/>
          </a:xfrm>
          <a:prstGeom prst="rect">
            <a:avLst/>
          </a:prstGeom>
        </p:spPr>
      </p:pic>
      <p:sp>
        <p:nvSpPr>
          <p:cNvPr id="16" name="Text 9"/>
          <p:cNvSpPr/>
          <p:nvPr/>
        </p:nvSpPr>
        <p:spPr>
          <a:xfrm>
            <a:off x="1278731" y="3767435"/>
            <a:ext cx="3186113"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B0082"/>
                </a:solidFill>
                <a:latin typeface="Space Grotesk Medium" pitchFamily="34" charset="0"/>
                <a:ea typeface="Space Grotesk Medium" pitchFamily="34" charset="-122"/>
                <a:cs typeface="Space Grotesk Medium" pitchFamily="34" charset="-120"/>
              </a:rPr>
              <a:t>Masshtablanuvchi AI qatlami</a:t>
            </a:r>
            <a:endParaRPr lang="en-US" sz="950" dirty="0"/>
          </a:p>
        </p:txBody>
      </p:sp>
      <p:sp>
        <p:nvSpPr>
          <p:cNvPr id="17" name="Text 10"/>
          <p:cNvSpPr/>
          <p:nvPr/>
        </p:nvSpPr>
        <p:spPr>
          <a:xfrm>
            <a:off x="1278731" y="3958168"/>
            <a:ext cx="3020020"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Uzum ekotizimining barcha yo'nalishlariga osonlik</a:t>
            </a:r>
            <a:endParaRPr lang="en-US" sz="950" dirty="0"/>
          </a:p>
        </p:txBody>
      </p:sp>
      <p:sp>
        <p:nvSpPr>
          <p:cNvPr id="18" name="Text 11"/>
          <p:cNvSpPr/>
          <p:nvPr/>
        </p:nvSpPr>
        <p:spPr>
          <a:xfrm>
            <a:off x="1278731" y="4138185"/>
            <a:ext cx="2986088"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bilan moslashtirilishi mumkin bo'lgan texnologiya.</a:t>
            </a:r>
            <a:endParaRPr lang="en-US" sz="950" dirty="0"/>
          </a:p>
        </p:txBody>
      </p:sp>
      <p:pic>
        <p:nvPicPr>
          <p:cNvPr id="19" name="Image 4" descr="preencoded.png">    </p:cNvPr>
          <p:cNvPicPr>
            <a:picLocks noChangeAspect="1"/>
          </p:cNvPicPr>
          <p:nvPr/>
        </p:nvPicPr>
        <p:blipFill>
          <a:blip r:embed="rId5"/>
          <a:stretch>
            <a:fillRect/>
          </a:stretch>
        </p:blipFill>
        <p:spPr>
          <a:xfrm>
            <a:off x="4679156" y="3803154"/>
            <a:ext cx="192881" cy="171450"/>
          </a:xfrm>
          <a:prstGeom prst="rect">
            <a:avLst/>
          </a:prstGeom>
        </p:spPr>
      </p:pic>
      <p:sp>
        <p:nvSpPr>
          <p:cNvPr id="20" name="Text 12"/>
          <p:cNvSpPr/>
          <p:nvPr/>
        </p:nvSpPr>
        <p:spPr>
          <a:xfrm>
            <a:off x="4979194" y="3767435"/>
            <a:ext cx="3164681"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B0082"/>
                </a:solidFill>
                <a:latin typeface="Space Grotesk Medium" pitchFamily="34" charset="0"/>
                <a:ea typeface="Space Grotesk Medium" pitchFamily="34" charset="-122"/>
                <a:cs typeface="Space Grotesk Medium" pitchFamily="34" charset="-120"/>
              </a:rPr>
              <a:t>O'lchanadigan natija</a:t>
            </a:r>
            <a:endParaRPr lang="en-US" sz="950" dirty="0"/>
          </a:p>
        </p:txBody>
      </p:sp>
      <p:sp>
        <p:nvSpPr>
          <p:cNvPr id="21" name="Text 13"/>
          <p:cNvSpPr/>
          <p:nvPr/>
        </p:nvSpPr>
        <p:spPr>
          <a:xfrm>
            <a:off x="4979194" y="3958168"/>
            <a:ext cx="2898577"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Har bir promo-kod va har bir o'yin sessiyasining</a:t>
            </a:r>
            <a:endParaRPr lang="en-US" sz="950" dirty="0"/>
          </a:p>
        </p:txBody>
      </p:sp>
      <p:sp>
        <p:nvSpPr>
          <p:cNvPr id="22" name="Text 14"/>
          <p:cNvSpPr/>
          <p:nvPr/>
        </p:nvSpPr>
        <p:spPr>
          <a:xfrm>
            <a:off x="4979194" y="4138185"/>
            <a:ext cx="2909292"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3333"/>
                </a:solidFill>
                <a:latin typeface="Inter" pitchFamily="34" charset="0"/>
                <a:ea typeface="Inter" pitchFamily="34" charset="-122"/>
                <a:cs typeface="Inter" pitchFamily="34" charset="-120"/>
              </a:rPr>
              <a:t>biznesga ta'sirini aniq metrikalar orqali kuzatish.</a:t>
            </a:r>
            <a:endParaRPr lang="en-US" sz="950" dirty="0"/>
          </a:p>
        </p:txBody>
      </p:sp>
      <p:sp>
        <p:nvSpPr>
          <p:cNvPr id="23" name="Text 15"/>
          <p:cNvSpPr/>
          <p:nvPr/>
        </p:nvSpPr>
        <p:spPr>
          <a:xfrm>
            <a:off x="7525941" y="4877395"/>
            <a:ext cx="1460897" cy="108942"/>
          </a:xfrm>
          <a:prstGeom prst="rect">
            <a:avLst/>
          </a:prstGeom>
          <a:noFill/>
          <a:ln/>
        </p:spPr>
        <p:txBody>
          <a:bodyPr wrap="square" lIns="0" tIns="0" rIns="0" bIns="0" rtlCol="0" anchor="t">
            <a:spAutoFit/>
          </a:bodyPr>
          <a:lstStyle/>
          <a:p>
            <a:pPr algn="l" indent="0" marL="0">
              <a:buNone/>
            </a:pPr>
            <a:r>
              <a:rPr lang="en-US" sz="600" dirty="0">
                <a:solidFill>
                  <a:srgbClr val="9370DB"/>
                </a:solidFill>
                <a:latin typeface="Space Grotesk Medium" pitchFamily="34" charset="0"/>
                <a:ea typeface="Space Grotesk Medium" pitchFamily="34" charset="-122"/>
                <a:cs typeface="Space Grotesk Medium" pitchFamily="34" charset="-120"/>
              </a:rPr>
              <a:t>SLIDE_10 // FINAL_PITCH_SUMMARY</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2026-04-25T10:47:18Z</dcterms:created>
  <dcterms:modified xsi:type="dcterms:W3CDTF">2026-04-25T10:47:18Z</dcterms:modified>
</cp:coreProperties>
</file>